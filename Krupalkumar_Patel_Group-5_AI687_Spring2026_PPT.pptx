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1"/>
  </p:sldMasterIdLst>
  <p:notesMasterIdLst>
    <p:notesMasterId r:id="rId32"/>
  </p:notesMasterIdLst>
  <p:sldIdLst>
    <p:sldId id="275" r:id="rId2"/>
    <p:sldId id="276" r:id="rId3"/>
    <p:sldId id="277" r:id="rId4"/>
    <p:sldId id="278" r:id="rId5"/>
    <p:sldId id="280" r:id="rId6"/>
    <p:sldId id="281" r:id="rId7"/>
    <p:sldId id="285" r:id="rId8"/>
    <p:sldId id="286" r:id="rId9"/>
    <p:sldId id="287" r:id="rId10"/>
    <p:sldId id="272" r:id="rId11"/>
    <p:sldId id="282" r:id="rId12"/>
    <p:sldId id="294" r:id="rId13"/>
    <p:sldId id="289" r:id="rId14"/>
    <p:sldId id="291" r:id="rId15"/>
    <p:sldId id="292" r:id="rId16"/>
    <p:sldId id="299" r:id="rId17"/>
    <p:sldId id="260" r:id="rId18"/>
    <p:sldId id="300" r:id="rId19"/>
    <p:sldId id="295" r:id="rId20"/>
    <p:sldId id="301" r:id="rId21"/>
    <p:sldId id="296" r:id="rId22"/>
    <p:sldId id="302" r:id="rId23"/>
    <p:sldId id="303" r:id="rId24"/>
    <p:sldId id="304" r:id="rId25"/>
    <p:sldId id="297" r:id="rId26"/>
    <p:sldId id="284" r:id="rId27"/>
    <p:sldId id="293" r:id="rId28"/>
    <p:sldId id="290" r:id="rId29"/>
    <p:sldId id="298" r:id="rId30"/>
    <p:sldId id="274" r:id="rId31"/>
  </p:sldIdLst>
  <p:sldSz cx="9144000" cy="6858000" type="screen4x3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72C"/>
    <a:srgbClr val="69B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B41E7E-977E-4242-9298-5856743A5FC7}" v="2" dt="2026-01-16T19:49:48.631"/>
  </p1510:revLst>
</p1510:revInfo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32"/>
    <p:restoredTop sz="94721"/>
  </p:normalViewPr>
  <p:slideViewPr>
    <p:cSldViewPr snapToGrid="0" snapToObjects="1">
      <p:cViewPr varScale="1">
        <p:scale>
          <a:sx n="107" d="100"/>
          <a:sy n="107" d="100"/>
        </p:scale>
        <p:origin x="8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a Nacif El Alaoui" userId="69746eab-fe43-459f-a36f-cd87144df17e" providerId="ADAL" clId="{FD23A653-43BC-42C3-AD44-0AA15F2914BA}"/>
    <pc:docChg chg="modSld">
      <pc:chgData name="Reda Nacif El Alaoui" userId="69746eab-fe43-459f-a36f-cd87144df17e" providerId="ADAL" clId="{FD23A653-43BC-42C3-AD44-0AA15F2914BA}" dt="2026-01-16T19:50:03.822" v="24" actId="20577"/>
      <pc:docMkLst>
        <pc:docMk/>
      </pc:docMkLst>
      <pc:sldChg chg="modSp mod">
        <pc:chgData name="Reda Nacif El Alaoui" userId="69746eab-fe43-459f-a36f-cd87144df17e" providerId="ADAL" clId="{FD23A653-43BC-42C3-AD44-0AA15F2914BA}" dt="2026-01-16T19:50:03.822" v="24" actId="20577"/>
        <pc:sldMkLst>
          <pc:docMk/>
          <pc:sldMk cId="3237590156" sldId="258"/>
        </pc:sldMkLst>
        <pc:spChg chg="mod">
          <ac:chgData name="Reda Nacif El Alaoui" userId="69746eab-fe43-459f-a36f-cd87144df17e" providerId="ADAL" clId="{FD23A653-43BC-42C3-AD44-0AA15F2914BA}" dt="2026-01-16T19:50:03.822" v="24" actId="20577"/>
          <ac:spMkLst>
            <pc:docMk/>
            <pc:sldMk cId="3237590156" sldId="258"/>
            <ac:spMk id="9" creationId="{A2163CFA-8E03-DC47-AB89-020E49AEA15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782C7-A981-DA49-9F80-7A4E7540518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12654-83C3-6247-B37B-7386861A2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43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C60DCD-A1EE-D04E-A050-0D41A7407592}"/>
              </a:ext>
            </a:extLst>
          </p:cNvPr>
          <p:cNvSpPr/>
          <p:nvPr userDrawn="1"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8DFAC-6C93-D941-AD4C-56B7F38F7E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6236468" y="-171450"/>
            <a:ext cx="3076696" cy="307669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56F2F19-5F1F-9540-9B80-03841B943248}"/>
              </a:ext>
            </a:extLst>
          </p:cNvPr>
          <p:cNvSpPr/>
          <p:nvPr userDrawn="1"/>
        </p:nvSpPr>
        <p:spPr>
          <a:xfrm>
            <a:off x="0" y="2651760"/>
            <a:ext cx="9144000" cy="9144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006448-8A20-764C-A113-1826193078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2150" y="6176068"/>
            <a:ext cx="2743200" cy="24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257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33169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693670"/>
            <a:ext cx="3886200" cy="34767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693670"/>
            <a:ext cx="3886200" cy="34767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F4AE9C-67F5-1A41-89B0-DEEE29CEB63B}"/>
              </a:ext>
            </a:extLst>
          </p:cNvPr>
          <p:cNvSpPr/>
          <p:nvPr userDrawn="1"/>
        </p:nvSpPr>
        <p:spPr>
          <a:xfrm>
            <a:off x="0" y="-1"/>
            <a:ext cx="9144000" cy="914401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E368CC-3F6A-894C-9234-DC83E799A195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672DBF6-0DAC-E148-9CD9-C668F894CB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57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233169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233170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992293"/>
            <a:ext cx="2949178" cy="3114503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43BBDD-4F51-5942-AA98-E7E60DD246B8}"/>
              </a:ext>
            </a:extLst>
          </p:cNvPr>
          <p:cNvSpPr/>
          <p:nvPr userDrawn="1"/>
        </p:nvSpPr>
        <p:spPr>
          <a:xfrm>
            <a:off x="0" y="-1"/>
            <a:ext cx="9144000" cy="914401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12223B-7DCB-0A48-A51E-8DF64C6AB09A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FA19B8AF-179C-6A40-9FCF-C1F83ADFC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087DC1-D29E-C342-8A11-CCD0B4FE6B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95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D56338-8C42-5A4C-B15A-5E6D618BF4F2}"/>
              </a:ext>
            </a:extLst>
          </p:cNvPr>
          <p:cNvSpPr/>
          <p:nvPr userDrawn="1"/>
        </p:nvSpPr>
        <p:spPr>
          <a:xfrm>
            <a:off x="0" y="-1"/>
            <a:ext cx="9144000" cy="914401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4F877C-2745-294D-A776-CA518D80DE0A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0B38AD8-F3C5-7940-BF85-B96BF38E0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FA62369-8A22-664A-A57A-10CC43BAE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33169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FA4AFD9-2B8B-FE40-A4BC-0A4258AA8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2693670"/>
            <a:ext cx="7886700" cy="3476724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CD807D-CF7D-A84C-AABB-8EB38292CA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242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95645F-D1FD-AB49-94B6-E1A0A46E6E38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FC020F-74CE-744F-B417-D101F5F860F7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79FC38-93A5-254A-9580-ADF945DCA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A57B61-6E93-3E4B-B366-DD651B8AFF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-685800" y="-685800"/>
            <a:ext cx="6175094" cy="617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25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5A77A-971A-3244-890F-3B99F7747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925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7" r:id="rId3"/>
    <p:sldLayoutId id="2147483660" r:id="rId4"/>
    <p:sldLayoutId id="2147483665" r:id="rId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hutterstock.com/search/genetic-future?image_type=illustration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hutterstock.com/search/genetic-future?image_type=illustration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hutterstock.com/search/genetic-future?image_type=illustration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DNA_animation.gif" TargetMode="External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i.sstatic.net/pQHBE.png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anishnama20/understanding-bidirectional-lstm-for-sequential-data-processing-b83d6283befc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6E06235-B4A9-1445-B4B0-799FEB40F49A}"/>
              </a:ext>
            </a:extLst>
          </p:cNvPr>
          <p:cNvSpPr txBox="1">
            <a:spLocks noChangeArrowheads="1"/>
          </p:cNvSpPr>
          <p:nvPr/>
        </p:nvSpPr>
        <p:spPr>
          <a:xfrm>
            <a:off x="296820" y="1316934"/>
            <a:ext cx="8847180" cy="928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200" b="1" dirty="0">
                <a:solidFill>
                  <a:srgbClr val="FFFFFF"/>
                </a:solidFill>
                <a:latin typeface="Times"/>
                <a:cs typeface="Arial"/>
              </a:rPr>
              <a:t>AI-Driven DNA Sequence Classification</a:t>
            </a:r>
            <a:endParaRPr lang="en-US" altLang="en-US" sz="3200" b="1" dirty="0">
              <a:solidFill>
                <a:schemeClr val="bg1"/>
              </a:solidFill>
              <a:latin typeface="Times"/>
              <a:cs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614B48C-432E-4046-9F84-C6EB95379FC1}"/>
              </a:ext>
            </a:extLst>
          </p:cNvPr>
          <p:cNvSpPr txBox="1">
            <a:spLocks noChangeArrowheads="1"/>
          </p:cNvSpPr>
          <p:nvPr/>
        </p:nvSpPr>
        <p:spPr>
          <a:xfrm>
            <a:off x="-829513" y="4058365"/>
            <a:ext cx="148379" cy="149740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63CFA-8E03-DC47-AB89-020E49AEA157}"/>
              </a:ext>
            </a:extLst>
          </p:cNvPr>
          <p:cNvSpPr txBox="1"/>
          <p:nvPr/>
        </p:nvSpPr>
        <p:spPr>
          <a:xfrm>
            <a:off x="345448" y="3027724"/>
            <a:ext cx="3681162" cy="2893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 dirty="0">
                <a:latin typeface="Times New Roman"/>
                <a:cs typeface="Times New Roman"/>
              </a:rPr>
              <a:t>Group 5</a:t>
            </a:r>
          </a:p>
          <a:p>
            <a:endParaRPr lang="en-US" sz="1800" b="1" dirty="0">
              <a:latin typeface="Times New Roman"/>
              <a:cs typeface="Arial"/>
            </a:endParaRPr>
          </a:p>
          <a:p>
            <a:r>
              <a:rPr lang="en-US" sz="1800" dirty="0">
                <a:effectLst/>
                <a:latin typeface="Times New Roman"/>
                <a:cs typeface="Arial"/>
              </a:rPr>
              <a:t>Swayam Shah</a:t>
            </a:r>
            <a:endParaRPr lang="en-US" dirty="0"/>
          </a:p>
          <a:p>
            <a:r>
              <a:rPr lang="en-US" sz="1800" dirty="0">
                <a:effectLst/>
                <a:latin typeface="Times New Roman"/>
                <a:cs typeface="Arial"/>
              </a:rPr>
              <a:t>Krupalkumar Patel</a:t>
            </a:r>
          </a:p>
          <a:p>
            <a:r>
              <a:rPr lang="en-US" sz="1800" dirty="0">
                <a:latin typeface="Times New Roman"/>
                <a:ea typeface="Calibri" panose="020F0502020204030204"/>
                <a:cs typeface="Calibri" panose="020F0502020204030204"/>
              </a:rPr>
              <a:t>Kartavya Mandora</a:t>
            </a:r>
          </a:p>
          <a:p>
            <a:endParaRPr lang="en-US" sz="1800" dirty="0">
              <a:latin typeface="Times New Roman"/>
              <a:cs typeface="Arial"/>
            </a:endParaRPr>
          </a:p>
          <a:p>
            <a:endParaRPr lang="en-US" sz="1800" dirty="0">
              <a:latin typeface="Times New Roman"/>
              <a:cs typeface="Arial"/>
            </a:endParaRPr>
          </a:p>
          <a:p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Date: 04/03/2026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9A0597-3ED6-D62F-272D-DB5E7F8E498C}"/>
              </a:ext>
            </a:extLst>
          </p:cNvPr>
          <p:cNvSpPr txBox="1"/>
          <p:nvPr/>
        </p:nvSpPr>
        <p:spPr>
          <a:xfrm>
            <a:off x="345448" y="6164712"/>
            <a:ext cx="25649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000" dirty="0">
                <a:latin typeface="Times New Roman"/>
                <a:cs typeface="Times New Roman"/>
              </a:rPr>
              <a:t>AI687_SPRING2026</a:t>
            </a:r>
            <a:endParaRPr lang="en-US" sz="2000" dirty="0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E62E6D-6654-6FDA-D839-FCB44164E145}"/>
              </a:ext>
            </a:extLst>
          </p:cNvPr>
          <p:cNvSpPr txBox="1"/>
          <p:nvPr/>
        </p:nvSpPr>
        <p:spPr>
          <a:xfrm>
            <a:off x="3785650" y="2254604"/>
            <a:ext cx="520397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Times New Roman"/>
                <a:cs typeface="Times New Roman"/>
              </a:rPr>
              <a:t>Comparative Analysis on Encoded vs Raw DNA Sequences</a:t>
            </a:r>
            <a:endParaRPr lang="en-US" sz="1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2FE41B-80FB-A336-E4C9-F52932FDE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99" y="3057832"/>
            <a:ext cx="5121353" cy="28447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A7DE29-E629-8AAE-C4E9-FEC1B572688D}"/>
              </a:ext>
            </a:extLst>
          </p:cNvPr>
          <p:cNvSpPr txBox="1"/>
          <p:nvPr/>
        </p:nvSpPr>
        <p:spPr>
          <a:xfrm>
            <a:off x="3596147" y="5911963"/>
            <a:ext cx="677688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>
                <a:hlinkClick r:id="rId3"/>
              </a:rPr>
              <a:t>https://www.shutterstock.com/search/genetic-future?image_type=illustration</a:t>
            </a:r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3066406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BCF1-984E-8948-950A-5CD959835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03094"/>
            <a:ext cx="7886700" cy="4767300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sz="3200" dirty="0">
                <a:latin typeface="Times"/>
                <a:cs typeface="Times New Roman"/>
              </a:rPr>
              <a:t>Introduction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sz="3200" dirty="0">
                <a:latin typeface="Times"/>
                <a:cs typeface="Times New Roman"/>
              </a:rPr>
              <a:t>Application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sz="3200" dirty="0">
                <a:latin typeface="Times"/>
                <a:cs typeface="Times New Roman"/>
              </a:rPr>
              <a:t>Literature Review 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200" dirty="0">
                <a:latin typeface="Times"/>
                <a:cs typeface="Times New Roman"/>
              </a:rPr>
              <a:t>Literature Review result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200" dirty="0">
                <a:latin typeface="Times"/>
                <a:cs typeface="Times New Roman"/>
              </a:rPr>
              <a:t>Methodology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200" dirty="0">
                <a:latin typeface="Times"/>
                <a:cs typeface="Times New Roman"/>
              </a:rPr>
              <a:t>Dataset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200" dirty="0">
                <a:latin typeface="Times"/>
                <a:cs typeface="Times New Roman"/>
              </a:rPr>
              <a:t>Understanding the Functions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200" dirty="0">
                <a:latin typeface="Times"/>
                <a:cs typeface="Times New Roman"/>
              </a:rPr>
              <a:t>Obtained Results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200" dirty="0">
                <a:latin typeface="Times"/>
                <a:ea typeface="+mn-lt"/>
                <a:cs typeface="+mn-lt"/>
              </a:rPr>
              <a:t>Conclusion &amp; Future work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200" dirty="0">
                <a:latin typeface="Times"/>
                <a:ea typeface="+mn-lt"/>
                <a:cs typeface="+mn-lt"/>
              </a:rPr>
              <a:t>Teamwork Distribution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200" dirty="0">
                <a:latin typeface="Times"/>
                <a:cs typeface="Times New Roman"/>
              </a:rPr>
              <a:t>Timeline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200" dirty="0">
                <a:latin typeface="Times"/>
                <a:cs typeface="Times New Roman"/>
              </a:rPr>
              <a:t>References</a:t>
            </a:r>
            <a:endParaRPr lang="en-IN" sz="3200" dirty="0">
              <a:latin typeface="Times"/>
              <a:cs typeface="Times New Roman"/>
            </a:endParaRPr>
          </a:p>
          <a:p>
            <a:pPr marL="0" indent="0">
              <a:buNone/>
            </a:pP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684B8B-43FC-324A-B112-F515B802157A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Times New Roman"/>
                <a:cs typeface="Arial"/>
              </a:rPr>
              <a:t>OUTLINES </a:t>
            </a:r>
            <a:endParaRPr lang="en-US" dirty="0">
              <a:solidFill>
                <a:schemeClr val="bg1"/>
              </a:solidFill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C8CBDB-C241-4C9B-9B12-C17CD5A47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6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69684B8B-43FC-324A-B112-F515B802157A}"/>
              </a:ext>
            </a:extLst>
          </p:cNvPr>
          <p:cNvSpPr txBox="1">
            <a:spLocks noChangeArrowheads="1"/>
          </p:cNvSpPr>
          <p:nvPr/>
        </p:nvSpPr>
        <p:spPr>
          <a:xfrm>
            <a:off x="629840" y="103842"/>
            <a:ext cx="3411217" cy="5826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77">
              <a:spcAft>
                <a:spcPts val="600"/>
              </a:spcAft>
            </a:pPr>
            <a:r>
              <a:rPr lang="en-US" altLang="en-US" sz="2800" b="1" kern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BCF1-984E-8948-950A-5CD959835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072" y="2074023"/>
            <a:ext cx="4777575" cy="344206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DNA sequences consist of nucleotides: A, T, C, G</a:t>
            </a:r>
            <a:br>
              <a:rPr lang="en-US" sz="1800" dirty="0"/>
            </a:br>
            <a:r>
              <a:rPr lang="en-US" sz="1800" dirty="0"/>
              <a:t>Task: Splice Junction Classification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Classes:</a:t>
            </a:r>
            <a:br>
              <a:rPr lang="en-US" sz="1800" dirty="0"/>
            </a:br>
            <a:r>
              <a:rPr lang="en-US" sz="1800" dirty="0"/>
              <a:t>• EI (Exon–Intron)</a:t>
            </a:r>
            <a:br>
              <a:rPr lang="en-US" sz="1800" dirty="0"/>
            </a:br>
            <a:r>
              <a:rPr lang="en-US" sz="1800" dirty="0"/>
              <a:t>• IE (Intron–Exon)</a:t>
            </a:r>
            <a:br>
              <a:rPr lang="en-US" sz="1800" dirty="0"/>
            </a:br>
            <a:r>
              <a:rPr lang="en-US" sz="1800" dirty="0"/>
              <a:t>• N (Non-splice)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Challenge:</a:t>
            </a:r>
            <a:br>
              <a:rPr lang="en-US" sz="1800" dirty="0"/>
            </a:br>
            <a:r>
              <a:rPr lang="en-US" sz="1800" dirty="0"/>
              <a:t>• Complex biological patterns</a:t>
            </a:r>
            <a:br>
              <a:rPr lang="en-US" sz="1800" dirty="0"/>
            </a:br>
            <a:r>
              <a:rPr lang="en-US" sz="1800" dirty="0"/>
              <a:t>• Large-scale genomic data</a:t>
            </a:r>
            <a:endParaRPr lang="en-US" sz="17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608BD0-994E-4EA0-A0B0-4FC8DE301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825A77A-971A-3244-890F-3B99F774724A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0E2BD8-A224-FC21-E339-067195115A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19" r="6787"/>
          <a:stretch>
            <a:fillRect/>
          </a:stretch>
        </p:blipFill>
        <p:spPr>
          <a:xfrm>
            <a:off x="5240595" y="1240970"/>
            <a:ext cx="3564958" cy="51340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FDAE93-1FA1-0F19-6734-FDBCA4B9897A}"/>
              </a:ext>
            </a:extLst>
          </p:cNvPr>
          <p:cNvSpPr txBox="1"/>
          <p:nvPr/>
        </p:nvSpPr>
        <p:spPr>
          <a:xfrm>
            <a:off x="5676874" y="6046066"/>
            <a:ext cx="440529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>
                <a:hlinkClick r:id="rId3"/>
              </a:rPr>
              <a:t>https://www.shutterstock.com/search/genetic-future?image_type=illustration</a:t>
            </a:r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4098844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63413-D4DF-BA37-0478-B68A9B13F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F85520FB-246F-5483-0E39-BE1681FBBE15}"/>
              </a:ext>
            </a:extLst>
          </p:cNvPr>
          <p:cNvSpPr txBox="1">
            <a:spLocks noChangeArrowheads="1"/>
          </p:cNvSpPr>
          <p:nvPr/>
        </p:nvSpPr>
        <p:spPr>
          <a:xfrm>
            <a:off x="103167" y="972056"/>
            <a:ext cx="7886700" cy="9177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77">
              <a:spcAft>
                <a:spcPts val="600"/>
              </a:spcAft>
            </a:pPr>
            <a:r>
              <a:rPr lang="en-US" sz="4000" b="1" kern="1200" dirty="0">
                <a:latin typeface="+mj-lt"/>
                <a:ea typeface="+mj-ea"/>
                <a:cs typeface="+mj-cs"/>
              </a:rPr>
              <a:t>Problem Statement</a:t>
            </a:r>
            <a:endParaRPr lang="en-US" altLang="en-US" sz="40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965A190-4C8F-AF51-29F9-E009D309D72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3167" y="1944203"/>
            <a:ext cx="7698921" cy="2028094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The Challenge:</a:t>
            </a:r>
          </a:p>
          <a:p>
            <a:pPr marL="0" indent="0">
              <a:buNone/>
            </a:pPr>
            <a:r>
              <a:rPr lang="en-US" sz="1600" dirty="0"/>
              <a:t>❌ Massive growth of genomic data</a:t>
            </a:r>
          </a:p>
          <a:p>
            <a:pPr marL="0" indent="0">
              <a:buNone/>
            </a:pPr>
            <a:r>
              <a:rPr lang="en-US" sz="1600" dirty="0"/>
              <a:t>❌ Manual DNA analysis is slow &amp; inefficient</a:t>
            </a:r>
          </a:p>
          <a:p>
            <a:pPr marL="0" indent="0">
              <a:buNone/>
            </a:pPr>
            <a:r>
              <a:rPr lang="en-US" sz="1600" dirty="0"/>
              <a:t>❌ Traditional ML depends on handcrafted features</a:t>
            </a:r>
          </a:p>
          <a:p>
            <a:pPr marL="0" indent="0">
              <a:buNone/>
            </a:pPr>
            <a:r>
              <a:rPr lang="en-US" sz="1600" dirty="0"/>
              <a:t>❌ Difficulty capturing complex sequence patterns</a:t>
            </a:r>
          </a:p>
          <a:p>
            <a:pPr marL="0" indent="0">
              <a:buNone/>
            </a:pPr>
            <a:r>
              <a:rPr lang="en-US" sz="1600" dirty="0"/>
              <a:t>❌ Learning directly from raw DNA sequences (unstructured data)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4E9EB5-5FCB-43D9-D9F8-00006CD3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825A77A-971A-3244-890F-3B99F774724A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B09B0C-3EDA-2105-C8A5-1D917D59D5A5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0814F39-1EC7-EE61-324A-DB6158A35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67" y="4080620"/>
            <a:ext cx="4655127" cy="236174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None/>
            </a:pPr>
            <a:r>
              <a:rPr lang="en-US" sz="1800" b="1" dirty="0"/>
              <a:t>Solution</a:t>
            </a:r>
            <a:r>
              <a:rPr lang="en-US" sz="1800" dirty="0"/>
              <a:t>:</a:t>
            </a:r>
          </a:p>
          <a:p>
            <a:pPr marL="171450" lvl="1" indent="-171450" algn="just">
              <a:buNone/>
            </a:pPr>
            <a:r>
              <a:rPr lang="en-US" sz="1600" b="1" dirty="0"/>
              <a:t>Proposed Model: </a:t>
            </a:r>
            <a:r>
              <a:rPr lang="en-US" sz="1600" dirty="0"/>
              <a:t>CNN - </a:t>
            </a:r>
            <a:r>
              <a:rPr lang="en-US" sz="1600" dirty="0" err="1"/>
              <a:t>BiLSTM</a:t>
            </a:r>
            <a:endParaRPr lang="en-US" sz="1600" dirty="0"/>
          </a:p>
          <a:p>
            <a:pPr marL="171450" lvl="1" indent="-171450" algn="just">
              <a:buNone/>
            </a:pPr>
            <a:r>
              <a:rPr lang="en-US" sz="1600" b="1" u="sng" dirty="0"/>
              <a:t>CNN:</a:t>
            </a:r>
          </a:p>
          <a:p>
            <a:pPr marL="171450" lvl="1" indent="-171450" algn="just">
              <a:buFont typeface="Courier New" panose="02070309020205020404" pitchFamily="49" charset="0"/>
              <a:buChar char="o"/>
            </a:pPr>
            <a:r>
              <a:rPr lang="en-US" sz="1600" dirty="0"/>
              <a:t>Extracts local nucleotide motifs</a:t>
            </a:r>
          </a:p>
          <a:p>
            <a:pPr marL="171450" lvl="1" indent="-171450" algn="just">
              <a:buNone/>
            </a:pPr>
            <a:r>
              <a:rPr lang="en-US" sz="1600" b="1" u="sng" dirty="0" err="1"/>
              <a:t>BiLSTM</a:t>
            </a:r>
            <a:r>
              <a:rPr lang="en-US" sz="1600" b="1" u="sng" dirty="0"/>
              <a:t>:</a:t>
            </a:r>
          </a:p>
          <a:p>
            <a:pPr marL="171450" lvl="1" indent="-171450" algn="just">
              <a:buFont typeface="Courier New" panose="02070309020205020404" pitchFamily="49" charset="0"/>
              <a:buChar char="o"/>
            </a:pPr>
            <a:r>
              <a:rPr lang="en-US" sz="1600" dirty="0"/>
              <a:t>Captures long-range dependencies</a:t>
            </a:r>
          </a:p>
          <a:p>
            <a:pPr marL="171450" lvl="1" indent="-171450" algn="just">
              <a:buNone/>
            </a:pPr>
            <a:r>
              <a:rPr lang="en-US" sz="1600" b="1" u="sng" dirty="0"/>
              <a:t>Key Advantage:</a:t>
            </a:r>
          </a:p>
          <a:p>
            <a:pPr marL="171450" lvl="1" indent="-171450" algn="just">
              <a:buFont typeface="Courier New" panose="02070309020205020404" pitchFamily="49" charset="0"/>
              <a:buChar char="o"/>
            </a:pPr>
            <a:r>
              <a:rPr lang="en-US" sz="1600" dirty="0"/>
              <a:t>Works on both encoded and raw DNA data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683060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1BC83-E1F5-8F05-E6A9-69F135C34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57224" y="219076"/>
            <a:ext cx="4829174" cy="63817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+mn-lt"/>
              </a:rPr>
              <a:t>APPLICATION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26772-4DCF-31D0-6D3E-27FFADC0E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2247744" y="2992294"/>
            <a:ext cx="45719" cy="45719"/>
          </a:xfrm>
        </p:spPr>
        <p:txBody>
          <a:bodyPr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03A169-C75B-3AD7-55F0-C168C4947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603759-8322-E715-29FE-47E824F17917}"/>
              </a:ext>
            </a:extLst>
          </p:cNvPr>
          <p:cNvSpPr txBox="1"/>
          <p:nvPr/>
        </p:nvSpPr>
        <p:spPr>
          <a:xfrm>
            <a:off x="277761" y="2205124"/>
            <a:ext cx="4572799" cy="333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fr-FR" sz="1800" b="1" dirty="0" err="1"/>
              <a:t>Splice</a:t>
            </a:r>
            <a:r>
              <a:rPr lang="fr-FR" sz="1800" b="1" dirty="0"/>
              <a:t> Site </a:t>
            </a:r>
            <a:r>
              <a:rPr lang="fr-FR" sz="1800" b="1" dirty="0" err="1"/>
              <a:t>Detection</a:t>
            </a:r>
            <a:r>
              <a:rPr lang="fr-FR" sz="1800" b="1" dirty="0"/>
              <a:t> (EI / IE classification)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800" b="1" dirty="0"/>
              <a:t>Gene Structure Analysis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800" b="1" dirty="0"/>
              <a:t>Genomic Data Processing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800" b="1" dirty="0"/>
              <a:t>Disease Prediction (mutation detection)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800" b="1" dirty="0"/>
              <a:t>Biomedical Research Support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800" b="1" dirty="0"/>
              <a:t>Large-scale Genomic Analysis</a:t>
            </a:r>
            <a:endParaRPr lang="en-IN" sz="1800" b="1" dirty="0"/>
          </a:p>
        </p:txBody>
      </p:sp>
      <p:pic>
        <p:nvPicPr>
          <p:cNvPr id="4098" name="Picture 2" descr="The future of DNA sequencing — Genetics Unzipped">
            <a:extLst>
              <a:ext uri="{FF2B5EF4-FFF2-40B4-BE49-F238E27FC236}">
                <a16:creationId xmlns:a16="http://schemas.microsoft.com/office/drawing/2014/main" id="{490ABC8D-FC96-6547-962D-D527E2D2C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445" y="1695859"/>
            <a:ext cx="3881794" cy="4660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245A86-105B-9F53-221D-7B6DD75AECC6}"/>
              </a:ext>
            </a:extLst>
          </p:cNvPr>
          <p:cNvSpPr txBox="1"/>
          <p:nvPr/>
        </p:nvSpPr>
        <p:spPr>
          <a:xfrm>
            <a:off x="3792792" y="6408108"/>
            <a:ext cx="677688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>
                <a:hlinkClick r:id="rId3"/>
              </a:rPr>
              <a:t>https://www.shutterstock.com/search/genetic-future?image_type=illustration</a:t>
            </a:r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998693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C9B1FB-F50F-CA28-2E12-4DBC27605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80B315-3A8F-7EE7-726F-174823EA5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1968"/>
            <a:ext cx="5249636" cy="821094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LITERATURE REVIEW</a:t>
            </a:r>
            <a:endParaRPr lang="en-US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168442-3028-C2A0-78B1-AAF7590AE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9445" y="1101482"/>
            <a:ext cx="8345987" cy="544469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en-US" b="1" dirty="0"/>
              <a:t>Research paper 1</a:t>
            </a:r>
          </a:p>
          <a:p>
            <a:pPr marL="0" indent="0" algn="just">
              <a:buNone/>
            </a:pPr>
            <a:r>
              <a:rPr lang="en-US" sz="2000" b="1" dirty="0"/>
              <a:t>Paper:</a:t>
            </a:r>
            <a:r>
              <a:rPr lang="en-US" sz="2000" dirty="0"/>
              <a:t> Wavelet Neural Networks(WNN) for DNA Sequence Classification (2016)</a:t>
            </a:r>
          </a:p>
          <a:p>
            <a:pPr marL="0" indent="0">
              <a:buNone/>
            </a:pPr>
            <a:r>
              <a:rPr lang="en-US" sz="100" dirty="0"/>
              <a:t>a</a:t>
            </a:r>
            <a:br>
              <a:rPr lang="en-US" sz="2000" dirty="0"/>
            </a:br>
            <a:r>
              <a:rPr lang="en-US" sz="2000" b="1" dirty="0"/>
              <a:t>Core Idea</a:t>
            </a:r>
            <a:r>
              <a:rPr lang="en-US" sz="2000" dirty="0"/>
              <a:t>: </a:t>
            </a:r>
          </a:p>
          <a:p>
            <a:r>
              <a:rPr lang="en-US" sz="2000" dirty="0"/>
              <a:t>Uses Wavelet Neural Network (WNN) for DNA classification</a:t>
            </a:r>
          </a:p>
          <a:p>
            <a:r>
              <a:rPr lang="en-US" sz="2000" dirty="0"/>
              <a:t>Combines Genetic Algorithm (GA) + Least Trimmed Square (LTS) for optimization</a:t>
            </a:r>
          </a:p>
          <a:p>
            <a:pPr marL="0" indent="0">
              <a:buNone/>
            </a:pPr>
            <a:r>
              <a:rPr lang="en-US" sz="1800" b="1" dirty="0"/>
              <a:t>Method:</a:t>
            </a:r>
            <a:br>
              <a:rPr lang="en-US" sz="1800" dirty="0"/>
            </a:br>
            <a:r>
              <a:rPr lang="en-US" sz="1800" dirty="0"/>
              <a:t>• DNA → Binary encoding → Power spectrum transformation</a:t>
            </a:r>
            <a:br>
              <a:rPr lang="en-US" sz="1800" dirty="0"/>
            </a:br>
            <a:r>
              <a:rPr lang="en-US" sz="1800" dirty="0"/>
              <a:t>• Wavelet-based feature extraction + K-means clustering</a:t>
            </a:r>
            <a:br>
              <a:rPr lang="en-US" sz="1800" dirty="0"/>
            </a:br>
            <a:br>
              <a:rPr lang="en-US" sz="1800" dirty="0"/>
            </a:br>
            <a:r>
              <a:rPr lang="en-US" sz="1800" b="1" dirty="0"/>
              <a:t>Key Contribution:</a:t>
            </a:r>
            <a:br>
              <a:rPr lang="en-US" sz="1800" dirty="0"/>
            </a:br>
            <a:r>
              <a:rPr lang="en-US" sz="1800" dirty="0"/>
              <a:t>• Improves classification accuracy using signal-processing techniques</a:t>
            </a:r>
            <a:br>
              <a:rPr lang="en-US" sz="1800" dirty="0"/>
            </a:br>
            <a:br>
              <a:rPr lang="en-US" sz="1800" dirty="0"/>
            </a:br>
            <a:r>
              <a:rPr lang="en-US" sz="1800" b="1" dirty="0"/>
              <a:t>Limitation:</a:t>
            </a:r>
            <a:br>
              <a:rPr lang="en-US" sz="1800" dirty="0"/>
            </a:br>
            <a:r>
              <a:rPr lang="en-US" sz="1800" dirty="0"/>
              <a:t>• Relies on handcrafted feature transformation</a:t>
            </a:r>
            <a:br>
              <a:rPr lang="en-US" sz="1800" dirty="0"/>
            </a:br>
            <a:r>
              <a:rPr lang="en-US" sz="1800" dirty="0"/>
              <a:t>• Cannot capture deep sequential dependencies in DNA</a:t>
            </a:r>
            <a:endParaRPr lang="en-US" sz="1800" b="1" dirty="0"/>
          </a:p>
          <a:p>
            <a:pPr marL="227965" indent="-227965" algn="just"/>
            <a:endParaRPr lang="en-US" sz="1800" b="1" dirty="0">
              <a:ea typeface="Calibri" panose="020F0502020204030204"/>
              <a:cs typeface="Calibri" panose="020F0502020204030204"/>
            </a:endParaRPr>
          </a:p>
          <a:p>
            <a:pPr marL="227965" indent="-227965" algn="just"/>
            <a:endParaRPr lang="en-US" sz="1800" b="1" dirty="0">
              <a:ea typeface="Calibri" panose="020F0502020204030204"/>
              <a:cs typeface="Calibri" panose="020F0502020204030204"/>
            </a:endParaRPr>
          </a:p>
          <a:p>
            <a:pPr marL="227965" indent="-227965" algn="just"/>
            <a:endParaRPr lang="en-US" sz="1800" b="1" dirty="0">
              <a:ea typeface="Calibri" panose="020F0502020204030204"/>
              <a:cs typeface="Calibri" panose="020F0502020204030204"/>
            </a:endParaRPr>
          </a:p>
          <a:p>
            <a:pPr marL="227965" indent="-227965" algn="just"/>
            <a:endParaRPr lang="en-US" sz="1800" b="1" dirty="0">
              <a:ea typeface="Calibri" panose="020F0502020204030204"/>
              <a:cs typeface="Calibri" panose="020F0502020204030204"/>
            </a:endParaRPr>
          </a:p>
          <a:p>
            <a:pPr marL="227965" indent="-227965" algn="just"/>
            <a:endParaRPr lang="en-US" sz="1800" b="1" dirty="0">
              <a:ea typeface="Calibri" panose="020F0502020204030204"/>
              <a:cs typeface="Calibri" panose="020F0502020204030204"/>
            </a:endParaRPr>
          </a:p>
          <a:p>
            <a:pPr marL="227965" indent="-227965" algn="just"/>
            <a:endParaRPr lang="en-US" sz="1800" b="1" dirty="0">
              <a:ea typeface="Calibri" panose="020F0502020204030204"/>
              <a:cs typeface="Calibri" panose="020F0502020204030204"/>
            </a:endParaRPr>
          </a:p>
          <a:p>
            <a:pPr marL="227965" indent="-227965" algn="just"/>
            <a:endParaRPr lang="en-US" sz="1800" b="1" dirty="0">
              <a:ea typeface="Calibri" panose="020F0502020204030204"/>
              <a:cs typeface="Calibri" panose="020F0502020204030204"/>
            </a:endParaRPr>
          </a:p>
          <a:p>
            <a:pPr marL="227965" indent="-227965"/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01350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8E0311-2857-8B76-C410-D98C853AC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30936699-3BF1-3023-4F26-5C1DA39B25D2}"/>
              </a:ext>
            </a:extLst>
          </p:cNvPr>
          <p:cNvSpPr txBox="1">
            <a:spLocks/>
          </p:cNvSpPr>
          <p:nvPr/>
        </p:nvSpPr>
        <p:spPr>
          <a:xfrm>
            <a:off x="628650" y="111968"/>
            <a:ext cx="5249636" cy="821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LITERATURE REVIEW</a:t>
            </a:r>
            <a:endParaRPr lang="en-US" sz="2800" dirty="0"/>
          </a:p>
        </p:txBody>
      </p:sp>
      <p:pic>
        <p:nvPicPr>
          <p:cNvPr id="5122" name="Picture 2" descr="This may contain: a double - stranded model of a human cell is shown">
            <a:extLst>
              <a:ext uri="{FF2B5EF4-FFF2-40B4-BE49-F238E27FC236}">
                <a16:creationId xmlns:a16="http://schemas.microsoft.com/office/drawing/2014/main" id="{25CBC8B4-723E-A7D4-6995-6D64C3F24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932" y="3066825"/>
            <a:ext cx="2114099" cy="3205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CBC147C-1F6E-1826-8099-AD3BBAA95AEE}"/>
              </a:ext>
            </a:extLst>
          </p:cNvPr>
          <p:cNvSpPr txBox="1">
            <a:spLocks/>
          </p:cNvSpPr>
          <p:nvPr/>
        </p:nvSpPr>
        <p:spPr>
          <a:xfrm>
            <a:off x="409445" y="1101482"/>
            <a:ext cx="8345987" cy="5444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b="1" dirty="0"/>
              <a:t>Research paper 2</a:t>
            </a:r>
          </a:p>
          <a:p>
            <a:pPr marL="0" indent="0" algn="just">
              <a:buNone/>
            </a:pPr>
            <a:r>
              <a:rPr lang="en-US" sz="2000" b="1" dirty="0"/>
              <a:t>Paper:</a:t>
            </a:r>
            <a:r>
              <a:rPr lang="en-US" sz="2000" dirty="0"/>
              <a:t> </a:t>
            </a:r>
            <a:r>
              <a:rPr lang="en-US" sz="2000" dirty="0" err="1"/>
              <a:t>SpliceRover</a:t>
            </a:r>
            <a:r>
              <a:rPr lang="en-US" sz="2000" dirty="0"/>
              <a:t> - Interpretable Convolutional Neural Networks for Improved Splice Site Prediction (2018)</a:t>
            </a:r>
          </a:p>
          <a:p>
            <a:pPr marL="0" indent="0">
              <a:buNone/>
            </a:pPr>
            <a:r>
              <a:rPr lang="en-US" sz="2000" b="1" dirty="0"/>
              <a:t>Core Idea:</a:t>
            </a:r>
            <a:br>
              <a:rPr lang="en-US" sz="2000" dirty="0"/>
            </a:br>
            <a:r>
              <a:rPr lang="en-US" sz="2000" dirty="0"/>
              <a:t>• Uses Convolutional Neural Networks (CNN) for splice site prediction</a:t>
            </a:r>
            <a:br>
              <a:rPr lang="en-US" sz="2000" dirty="0"/>
            </a:br>
            <a:r>
              <a:rPr lang="en-US" sz="2000" dirty="0"/>
              <a:t>• Learns features directly from raw DNA sequences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Method:</a:t>
            </a:r>
            <a:br>
              <a:rPr lang="en-US" sz="2000" dirty="0"/>
            </a:br>
            <a:r>
              <a:rPr lang="en-US" sz="2000" dirty="0"/>
              <a:t>• One-hot encoding of DNA sequences</a:t>
            </a:r>
            <a:br>
              <a:rPr lang="en-US" sz="2000" dirty="0"/>
            </a:br>
            <a:r>
              <a:rPr lang="en-US" sz="2000" dirty="0"/>
              <a:t>• Multi-layer CNN + max pooling + </a:t>
            </a:r>
            <a:r>
              <a:rPr lang="en-US" sz="2000" dirty="0" err="1"/>
              <a:t>softmax</a:t>
            </a:r>
            <a:r>
              <a:rPr lang="en-US" sz="2000" dirty="0"/>
              <a:t> classifier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Key Contribution:</a:t>
            </a:r>
            <a:br>
              <a:rPr lang="en-US" sz="2000" dirty="0"/>
            </a:br>
            <a:r>
              <a:rPr lang="en-US" sz="2000" dirty="0"/>
              <a:t>• Outperforms traditional ML models (~80% improvement)</a:t>
            </a:r>
            <a:br>
              <a:rPr lang="en-US" sz="2000" dirty="0"/>
            </a:br>
            <a:r>
              <a:rPr lang="en-US" sz="2000" dirty="0"/>
              <a:t>• Provides interpretability using </a:t>
            </a:r>
            <a:r>
              <a:rPr lang="en-US" sz="2000" dirty="0" err="1"/>
              <a:t>DeepLIFT</a:t>
            </a:r>
            <a:r>
              <a:rPr lang="en-US" sz="2000" dirty="0"/>
              <a:t> visualization</a:t>
            </a:r>
          </a:p>
          <a:p>
            <a:pPr marL="0" indent="0">
              <a:buNone/>
            </a:pPr>
            <a:r>
              <a:rPr lang="en-US" sz="2000" b="1" dirty="0"/>
              <a:t>Limitation:</a:t>
            </a:r>
            <a:br>
              <a:rPr lang="en-US" sz="2000" dirty="0"/>
            </a:br>
            <a:r>
              <a:rPr lang="en-US" sz="2000" dirty="0"/>
              <a:t>• Focuses only on local sequence patterns (CNN)</a:t>
            </a:r>
            <a:br>
              <a:rPr lang="en-US" sz="2000" dirty="0"/>
            </a:br>
            <a:r>
              <a:rPr lang="en-US" sz="2000" dirty="0"/>
              <a:t>• Does not capture long-range dependencies</a:t>
            </a:r>
            <a:endParaRPr lang="en-US" sz="1800" b="1" dirty="0">
              <a:ea typeface="Calibri" panose="020F0502020204030204"/>
              <a:cs typeface="Calibri" panose="020F0502020204030204"/>
            </a:endParaRPr>
          </a:p>
          <a:p>
            <a:pPr marL="227965" indent="-227965" algn="just"/>
            <a:endParaRPr lang="en-US" sz="1800" b="1" dirty="0">
              <a:ea typeface="Calibri" panose="020F0502020204030204"/>
              <a:cs typeface="Calibri" panose="020F0502020204030204"/>
            </a:endParaRPr>
          </a:p>
          <a:p>
            <a:pPr marL="227965" indent="-227965" algn="just"/>
            <a:endParaRPr lang="en-US" sz="1800" b="1" dirty="0">
              <a:ea typeface="Calibri" panose="020F0502020204030204"/>
              <a:cs typeface="Calibri" panose="020F0502020204030204"/>
            </a:endParaRPr>
          </a:p>
          <a:p>
            <a:pPr marL="227965" indent="-227965" algn="just"/>
            <a:endParaRPr lang="en-US" sz="1800" b="1" dirty="0">
              <a:ea typeface="Calibri" panose="020F0502020204030204"/>
              <a:cs typeface="Calibri" panose="020F0502020204030204"/>
            </a:endParaRPr>
          </a:p>
          <a:p>
            <a:pPr marL="227965" indent="-227965" algn="just"/>
            <a:endParaRPr lang="en-US" sz="1800" b="1" dirty="0">
              <a:ea typeface="Calibri" panose="020F0502020204030204"/>
              <a:cs typeface="Calibri" panose="020F0502020204030204"/>
            </a:endParaRPr>
          </a:p>
          <a:p>
            <a:pPr marL="227965" indent="-227965" algn="just"/>
            <a:endParaRPr lang="en-US" sz="1800" b="1" dirty="0">
              <a:ea typeface="Calibri" panose="020F0502020204030204"/>
              <a:cs typeface="Calibri" panose="020F0502020204030204"/>
            </a:endParaRPr>
          </a:p>
          <a:p>
            <a:pPr marL="227965" indent="-227965"/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8EBB47-D924-DA90-F1E1-3B7E544327E1}"/>
              </a:ext>
            </a:extLst>
          </p:cNvPr>
          <p:cNvSpPr txBox="1"/>
          <p:nvPr/>
        </p:nvSpPr>
        <p:spPr>
          <a:xfrm>
            <a:off x="4582438" y="6356351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>
                <a:hlinkClick r:id="rId3"/>
              </a:rPr>
              <a:t>https://commons.wikimedia.org/wiki/File:DNA_animation.gif</a:t>
            </a:r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2322791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5F500-CDAF-718B-D32E-DB06A5D91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CA1FB8-B3FA-A85A-3D20-20FC5DA09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3E696EB1-1A24-D0FF-AD58-AD06E17D5D3D}"/>
              </a:ext>
            </a:extLst>
          </p:cNvPr>
          <p:cNvSpPr txBox="1">
            <a:spLocks/>
          </p:cNvSpPr>
          <p:nvPr/>
        </p:nvSpPr>
        <p:spPr>
          <a:xfrm>
            <a:off x="628650" y="111968"/>
            <a:ext cx="5249636" cy="821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LITERATURE REVIEW</a:t>
            </a:r>
            <a:endParaRPr lang="en-US" sz="2800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8630A3F-A7CC-651F-6868-D55BEB0898E0}"/>
              </a:ext>
            </a:extLst>
          </p:cNvPr>
          <p:cNvSpPr txBox="1">
            <a:spLocks/>
          </p:cNvSpPr>
          <p:nvPr/>
        </p:nvSpPr>
        <p:spPr>
          <a:xfrm>
            <a:off x="409445" y="1101482"/>
            <a:ext cx="8345987" cy="5444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b="1" dirty="0"/>
              <a:t>Research paper 3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2000" b="1" dirty="0"/>
              <a:t>Paper:</a:t>
            </a:r>
            <a:r>
              <a:rPr lang="en-US" sz="2000" dirty="0"/>
              <a:t> A Deep Learning Approach to DNA Sequence Classification (2016)</a:t>
            </a:r>
          </a:p>
          <a:p>
            <a:pPr marL="0" indent="0">
              <a:buNone/>
            </a:pPr>
            <a:r>
              <a:rPr lang="en-US" sz="2000" b="1" dirty="0"/>
              <a:t>Core Idea:</a:t>
            </a:r>
            <a:br>
              <a:rPr lang="en-US" sz="2000" b="1" dirty="0"/>
            </a:br>
            <a:r>
              <a:rPr lang="en-US" sz="2000" dirty="0"/>
              <a:t>• Uses CNN with spectral (k-</a:t>
            </a:r>
            <a:r>
              <a:rPr lang="en-US" sz="2000" dirty="0" err="1"/>
              <a:t>mer</a:t>
            </a:r>
            <a:r>
              <a:rPr lang="en-US" sz="2000" dirty="0"/>
              <a:t>) representation of DNA</a:t>
            </a:r>
            <a:br>
              <a:rPr lang="en-US" sz="2000" dirty="0"/>
            </a:br>
            <a:r>
              <a:rPr lang="en-US" sz="2000" dirty="0"/>
              <a:t>• Converts sequences into fixed-length feature vectors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Method:</a:t>
            </a:r>
            <a:br>
              <a:rPr lang="en-US" sz="2000" dirty="0"/>
            </a:br>
            <a:r>
              <a:rPr lang="en-US" sz="2000" dirty="0"/>
              <a:t>• k-</a:t>
            </a:r>
            <a:r>
              <a:rPr lang="en-US" sz="2000" dirty="0" err="1"/>
              <a:t>mer</a:t>
            </a:r>
            <a:r>
              <a:rPr lang="en-US" sz="2000" dirty="0"/>
              <a:t> based representation (4^k features)</a:t>
            </a:r>
            <a:br>
              <a:rPr lang="en-US" sz="2000" dirty="0"/>
            </a:br>
            <a:r>
              <a:rPr lang="en-US" sz="2000" dirty="0"/>
              <a:t>• CNN (LeNet-5 based) for classification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Key Contribution:</a:t>
            </a:r>
            <a:br>
              <a:rPr lang="en-US" sz="2000" b="1" dirty="0"/>
            </a:br>
            <a:r>
              <a:rPr lang="en-US" sz="2000" dirty="0"/>
              <a:t>• Deep learning outperforms SVM, RF, and Naive Bayes</a:t>
            </a:r>
            <a:br>
              <a:rPr lang="en-US" sz="2000" dirty="0"/>
            </a:br>
            <a:r>
              <a:rPr lang="en-US" sz="2000" dirty="0"/>
              <a:t>• Works well for short DNA fragments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Limitation:</a:t>
            </a:r>
            <a:br>
              <a:rPr lang="en-US" sz="2000" dirty="0"/>
            </a:br>
            <a:r>
              <a:rPr lang="en-US" sz="2000" dirty="0"/>
              <a:t>• Ignores positional information (bag-of-words approach)</a:t>
            </a:r>
            <a:br>
              <a:rPr lang="en-US" sz="2000" dirty="0"/>
            </a:br>
            <a:r>
              <a:rPr lang="en-US" sz="2000" dirty="0"/>
              <a:t>• Limited sequence dependency modeling</a:t>
            </a:r>
            <a:endParaRPr lang="en-US" sz="1800" b="1" dirty="0">
              <a:ea typeface="Calibri" panose="020F0502020204030204"/>
              <a:cs typeface="Calibri" panose="020F0502020204030204"/>
            </a:endParaRPr>
          </a:p>
          <a:p>
            <a:pPr marL="227965" indent="-227965" algn="just"/>
            <a:endParaRPr lang="en-US" sz="1800" b="1" dirty="0">
              <a:ea typeface="Calibri" panose="020F0502020204030204"/>
              <a:cs typeface="Calibri" panose="020F0502020204030204"/>
            </a:endParaRPr>
          </a:p>
          <a:p>
            <a:pPr marL="227965" indent="-227965" algn="just"/>
            <a:endParaRPr lang="en-US" sz="1800" b="1" dirty="0">
              <a:ea typeface="Calibri" panose="020F0502020204030204"/>
              <a:cs typeface="Calibri" panose="020F0502020204030204"/>
            </a:endParaRPr>
          </a:p>
          <a:p>
            <a:pPr marL="227965" indent="-227965" algn="just"/>
            <a:endParaRPr lang="en-US" sz="1800" b="1" dirty="0">
              <a:ea typeface="Calibri" panose="020F0502020204030204"/>
              <a:cs typeface="Calibri" panose="020F0502020204030204"/>
            </a:endParaRPr>
          </a:p>
          <a:p>
            <a:pPr marL="227965" indent="-227965" algn="just"/>
            <a:endParaRPr lang="en-US" sz="1800" b="1" dirty="0">
              <a:ea typeface="Calibri" panose="020F0502020204030204"/>
              <a:cs typeface="Calibri" panose="020F0502020204030204"/>
            </a:endParaRPr>
          </a:p>
          <a:p>
            <a:pPr marL="227965" indent="-227965" algn="just"/>
            <a:endParaRPr lang="en-US" sz="1800" b="1" dirty="0">
              <a:ea typeface="Calibri" panose="020F0502020204030204"/>
              <a:cs typeface="Calibri" panose="020F0502020204030204"/>
            </a:endParaRPr>
          </a:p>
          <a:p>
            <a:pPr marL="227965" indent="-227965"/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72645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50743A-09CD-414F-8C62-1F7818E59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D9098E-5BEC-EE4C-91E9-41A1CB5F73B3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5A592D5E-3BD8-EC4C-BD33-D0A1D81B4F74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LITERATURE REVIEW RESULTS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25C9C8A-603A-FA82-DE18-D757A404A41D}"/>
              </a:ext>
            </a:extLst>
          </p:cNvPr>
          <p:cNvGraphicFramePr>
            <a:graphicFrameLocks noGrp="1"/>
          </p:cNvGraphicFramePr>
          <p:nvPr/>
        </p:nvGraphicFramePr>
        <p:xfrm>
          <a:off x="392098" y="955704"/>
          <a:ext cx="8481316" cy="32149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20329">
                  <a:extLst>
                    <a:ext uri="{9D8B030D-6E8A-4147-A177-3AD203B41FA5}">
                      <a16:colId xmlns:a16="http://schemas.microsoft.com/office/drawing/2014/main" val="3388863079"/>
                    </a:ext>
                  </a:extLst>
                </a:gridCol>
                <a:gridCol w="2120329">
                  <a:extLst>
                    <a:ext uri="{9D8B030D-6E8A-4147-A177-3AD203B41FA5}">
                      <a16:colId xmlns:a16="http://schemas.microsoft.com/office/drawing/2014/main" val="1578672083"/>
                    </a:ext>
                  </a:extLst>
                </a:gridCol>
                <a:gridCol w="2120329">
                  <a:extLst>
                    <a:ext uri="{9D8B030D-6E8A-4147-A177-3AD203B41FA5}">
                      <a16:colId xmlns:a16="http://schemas.microsoft.com/office/drawing/2014/main" val="2750358341"/>
                    </a:ext>
                  </a:extLst>
                </a:gridCol>
                <a:gridCol w="2120329">
                  <a:extLst>
                    <a:ext uri="{9D8B030D-6E8A-4147-A177-3AD203B41FA5}">
                      <a16:colId xmlns:a16="http://schemas.microsoft.com/office/drawing/2014/main" val="3224360805"/>
                    </a:ext>
                  </a:extLst>
                </a:gridCol>
              </a:tblGrid>
              <a:tr h="27682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Aspect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Splice Rover (2018)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WNN-GA (2016)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K-mer representation (2016)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82513062"/>
                  </a:ext>
                </a:extLst>
              </a:tr>
              <a:tr h="55364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Task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Splice site prediction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DNA sequence classification (includes splice dataset)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DNA sequence classification (16S genes)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52229522"/>
                  </a:ext>
                </a:extLst>
              </a:tr>
              <a:tr h="55364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Model Used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Convolutional Neural Network (CNN)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Wavelet Neural Network + Genetic Algorithm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Convolutional Neural Network (LeNet-5 based)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99980026"/>
                  </a:ext>
                </a:extLst>
              </a:tr>
              <a:tr h="55364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Input Representation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One-hot encoded DNA sequences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Binary encoding + Fourier Transform + Power Spectrum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k-</a:t>
                      </a:r>
                      <a:r>
                        <a:rPr lang="en-US" sz="1200" dirty="0" err="1">
                          <a:effectLst/>
                        </a:rPr>
                        <a:t>mer</a:t>
                      </a:r>
                      <a:r>
                        <a:rPr lang="en-US" sz="1200" dirty="0">
                          <a:effectLst/>
                        </a:rPr>
                        <a:t> spectral representation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87784968"/>
                  </a:ext>
                </a:extLst>
              </a:tr>
              <a:tr h="55364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Reported Performance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Around 78-81% reduction in false discovery rate vs SVM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94% testing accuracy (splice dataset)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95-99% accuracy (full-length sequences)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56027794"/>
                  </a:ext>
                </a:extLst>
              </a:tr>
              <a:tr h="72360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Key Contribution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High-accuracy CNN with biological interpretability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Hybrid optimization improves classification robustness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Demonstrates CNN superiority over classical ML models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75541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AE59959-1429-82FD-4EEA-9C7934E35405}"/>
              </a:ext>
            </a:extLst>
          </p:cNvPr>
          <p:cNvSpPr txBox="1"/>
          <p:nvPr/>
        </p:nvSpPr>
        <p:spPr>
          <a:xfrm>
            <a:off x="317214" y="4170696"/>
            <a:ext cx="850957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Research Gap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Traditional methods → depend on feature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CNN-only models capture only local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k-</a:t>
            </a:r>
            <a:r>
              <a:rPr lang="en-US" sz="1600" dirty="0" err="1"/>
              <a:t>mer</a:t>
            </a:r>
            <a:r>
              <a:rPr lang="en-US" sz="1600" dirty="0"/>
              <a:t> methods → ignore sequence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Limited evaluation on raw DNA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No </a:t>
            </a:r>
            <a:r>
              <a:rPr lang="es-ES" sz="1600" dirty="0" err="1"/>
              <a:t>hybrid</a:t>
            </a:r>
            <a:r>
              <a:rPr lang="es-ES" sz="1600" dirty="0"/>
              <a:t> CNN + </a:t>
            </a:r>
            <a:r>
              <a:rPr lang="es-ES" sz="1600" dirty="0" err="1"/>
              <a:t>sequence</a:t>
            </a:r>
            <a:r>
              <a:rPr lang="es-ES" sz="1600" dirty="0"/>
              <a:t> </a:t>
            </a:r>
            <a:r>
              <a:rPr lang="es-ES" sz="1600" dirty="0" err="1"/>
              <a:t>modeling</a:t>
            </a:r>
            <a:endParaRPr lang="en-US" sz="1600" dirty="0"/>
          </a:p>
          <a:p>
            <a:endParaRPr lang="en-US" sz="1000" dirty="0"/>
          </a:p>
          <a:p>
            <a:pPr algn="just"/>
            <a:r>
              <a:rPr lang="en-US" sz="2000" b="1" dirty="0"/>
              <a:t>Our contribution</a:t>
            </a:r>
            <a:r>
              <a:rPr lang="en-US" sz="2000" dirty="0"/>
              <a:t>: </a:t>
            </a:r>
            <a:r>
              <a:rPr lang="en-US" sz="1600" dirty="0"/>
              <a:t>Introduce a hybrid deep learning model that combines CNN and </a:t>
            </a:r>
            <a:r>
              <a:rPr lang="en-US" sz="1600" dirty="0" err="1"/>
              <a:t>BiLSTM</a:t>
            </a:r>
            <a:r>
              <a:rPr lang="en-US" sz="1600" dirty="0"/>
              <a:t> for both encoded and raw DNA sequences.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17093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EE83A-6C8C-7541-9538-BD4C0FC9B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95754"/>
            <a:ext cx="7886700" cy="4974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7965" indent="-227965" algn="just">
              <a:buNone/>
            </a:pPr>
            <a:endParaRPr lang="en-US" sz="1800" dirty="0">
              <a:latin typeface="Arial"/>
              <a:ea typeface="Tahoma"/>
              <a:cs typeface="Arial"/>
            </a:endParaRPr>
          </a:p>
          <a:p>
            <a:pPr marL="0" indent="0" algn="just">
              <a:buNone/>
            </a:pPr>
            <a:endParaRPr lang="en-US" sz="18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3C476EA-0E49-6541-BE5E-4D9CDA48CDD2}"/>
              </a:ext>
            </a:extLst>
          </p:cNvPr>
          <p:cNvSpPr txBox="1">
            <a:spLocks noChangeArrowheads="1"/>
          </p:cNvSpPr>
          <p:nvPr/>
        </p:nvSpPr>
        <p:spPr>
          <a:xfrm>
            <a:off x="253783" y="45420"/>
            <a:ext cx="7381585" cy="12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bg1"/>
                </a:solidFill>
                <a:ea typeface="+mj-lt"/>
                <a:cs typeface="+mj-lt"/>
              </a:rPr>
              <a:t>ALGORITHM/APPROACH/METHODOLOGY</a:t>
            </a:r>
          </a:p>
          <a:p>
            <a:endParaRPr lang="en-US" altLang="en-US" sz="2800" b="1" dirty="0">
              <a:solidFill>
                <a:schemeClr val="bg1"/>
              </a:solidFill>
              <a:latin typeface="+mn-lt"/>
              <a:ea typeface="Calibri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F13B53-3C52-41FD-87EB-9108EC992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809AF2-A4F7-96CF-4D69-DBC906858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61" y="1078869"/>
            <a:ext cx="961243" cy="8693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504904-30C5-F577-A1DC-365B40134317}"/>
              </a:ext>
            </a:extLst>
          </p:cNvPr>
          <p:cNvSpPr txBox="1"/>
          <p:nvPr/>
        </p:nvSpPr>
        <p:spPr>
          <a:xfrm>
            <a:off x="1436319" y="951712"/>
            <a:ext cx="455947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spc="-63" dirty="0">
                <a:solidFill>
                  <a:srgbClr val="272525"/>
                </a:solidFill>
                <a:latin typeface="Inter Bold"/>
              </a:rPr>
              <a:t>DATA COLLECTION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D81EFF-75A8-23CD-08B0-8FF328ACD961}"/>
              </a:ext>
            </a:extLst>
          </p:cNvPr>
          <p:cNvSpPr txBox="1"/>
          <p:nvPr/>
        </p:nvSpPr>
        <p:spPr>
          <a:xfrm>
            <a:off x="1460367" y="1308778"/>
            <a:ext cx="7283882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50" spc="-34" dirty="0">
                <a:solidFill>
                  <a:srgbClr val="272525"/>
                </a:solidFill>
                <a:latin typeface="Inter"/>
              </a:rPr>
              <a:t>• Collect labeled DNA sequences and raw sequence of dataset</a:t>
            </a:r>
          </a:p>
          <a:p>
            <a:r>
              <a:rPr lang="en-US" sz="1650" spc="-34" dirty="0">
                <a:solidFill>
                  <a:srgbClr val="272525"/>
                </a:solidFill>
                <a:latin typeface="Inter"/>
              </a:rPr>
              <a:t>• Use benchmark dataset (e.g., Kaggle)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2A4158-3176-71F2-A81B-9F69083B2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00" y="2266726"/>
            <a:ext cx="988382" cy="8833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3736BB-D7FF-491C-227A-3A88BEAD5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207" y="3435720"/>
            <a:ext cx="967506" cy="8633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72494B-3DC0-12F8-E805-A5EE2B4DBE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207" y="4631368"/>
            <a:ext cx="967506" cy="8520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FD79089-3D88-8492-1816-F8205A3CA60E}"/>
              </a:ext>
            </a:extLst>
          </p:cNvPr>
          <p:cNvSpPr txBox="1"/>
          <p:nvPr/>
        </p:nvSpPr>
        <p:spPr>
          <a:xfrm>
            <a:off x="1489524" y="2207839"/>
            <a:ext cx="30513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spc="-63" dirty="0">
                <a:solidFill>
                  <a:srgbClr val="272525"/>
                </a:solidFill>
                <a:latin typeface="Inter Bold"/>
              </a:rPr>
              <a:t>DATA PREPARATION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B82F4D-0C38-2416-D779-ACEC2CDD7694}"/>
              </a:ext>
            </a:extLst>
          </p:cNvPr>
          <p:cNvSpPr txBox="1"/>
          <p:nvPr/>
        </p:nvSpPr>
        <p:spPr>
          <a:xfrm>
            <a:off x="1445613" y="2465299"/>
            <a:ext cx="7273280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50" dirty="0"/>
              <a:t>• Encode sequences (One-Hot / Numerical)        • Pad sequences to equal length</a:t>
            </a:r>
          </a:p>
          <a:p>
            <a:r>
              <a:rPr lang="en-US" sz="1650" dirty="0"/>
              <a:t>• Train / Validation split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4E80AC-8E0C-CC91-81B0-51D8554C85D5}"/>
              </a:ext>
            </a:extLst>
          </p:cNvPr>
          <p:cNvSpPr txBox="1"/>
          <p:nvPr/>
        </p:nvSpPr>
        <p:spPr>
          <a:xfrm rot="10800000" flipV="1">
            <a:off x="1513816" y="3416231"/>
            <a:ext cx="314643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sz="1800" b="1" dirty="0"/>
              <a:t>MODEL DESIGN</a:t>
            </a:r>
            <a:endParaRPr lang="en-IN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AB99B9-5E15-C311-7800-63A735592A68}"/>
              </a:ext>
            </a:extLst>
          </p:cNvPr>
          <p:cNvSpPr txBox="1"/>
          <p:nvPr/>
        </p:nvSpPr>
        <p:spPr>
          <a:xfrm rot="10800000" flipV="1">
            <a:off x="1461489" y="3697337"/>
            <a:ext cx="7850448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50" spc="-34" dirty="0">
                <a:solidFill>
                  <a:srgbClr val="272525"/>
                </a:solidFill>
                <a:ea typeface="+mn-lt"/>
                <a:cs typeface="+mn-lt"/>
              </a:rPr>
              <a:t>• CNN → Feature Extraction             • BiLSTM → Sequence Dependencies</a:t>
            </a:r>
          </a:p>
          <a:p>
            <a:r>
              <a:rPr lang="en-US" sz="1650" spc="-34" dirty="0">
                <a:solidFill>
                  <a:srgbClr val="272525"/>
                </a:solidFill>
                <a:ea typeface="+mn-lt"/>
                <a:cs typeface="+mn-lt"/>
              </a:rPr>
              <a:t>• Hybrid Architecture. 		  • Applied on : Encoded and Raw DNA Sequences Dataset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D8434E-7544-1F9C-9DC3-F2B264574100}"/>
              </a:ext>
            </a:extLst>
          </p:cNvPr>
          <p:cNvSpPr txBox="1"/>
          <p:nvPr/>
        </p:nvSpPr>
        <p:spPr>
          <a:xfrm>
            <a:off x="1455791" y="4650334"/>
            <a:ext cx="261154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spc="-63" dirty="0">
                <a:solidFill>
                  <a:srgbClr val="272525"/>
                </a:solidFill>
                <a:latin typeface="Inter Bold"/>
              </a:rPr>
              <a:t>MODEL TRAINING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3EE7C1-9F7F-1B6B-96F0-D32FF9C8C5F7}"/>
              </a:ext>
            </a:extLst>
          </p:cNvPr>
          <p:cNvSpPr txBox="1"/>
          <p:nvPr/>
        </p:nvSpPr>
        <p:spPr>
          <a:xfrm>
            <a:off x="1513816" y="4980731"/>
            <a:ext cx="7745794" cy="3462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50" spc="-34" dirty="0">
                <a:solidFill>
                  <a:srgbClr val="272525"/>
                </a:solidFill>
                <a:ea typeface="+mn-lt"/>
                <a:cs typeface="+mn-lt"/>
              </a:rPr>
              <a:t>• Train on labeled data      • Loss: Cross-Entropy         • Hyperparameter tuning.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908940F-4F8A-513B-B527-E37B3409D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37" y="5723938"/>
            <a:ext cx="961243" cy="86938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3BA8A42-4A5A-D5B7-1C7E-BE0F166862A7}"/>
              </a:ext>
            </a:extLst>
          </p:cNvPr>
          <p:cNvSpPr txBox="1"/>
          <p:nvPr/>
        </p:nvSpPr>
        <p:spPr>
          <a:xfrm>
            <a:off x="1436319" y="5726484"/>
            <a:ext cx="319204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sz="1800" b="1" dirty="0"/>
              <a:t>MODEL EVALUATION</a:t>
            </a:r>
            <a:endParaRPr lang="en-IN" sz="1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D46D08-3FCC-4857-3E5D-73C4D358B48D}"/>
              </a:ext>
            </a:extLst>
          </p:cNvPr>
          <p:cNvSpPr txBox="1"/>
          <p:nvPr/>
        </p:nvSpPr>
        <p:spPr>
          <a:xfrm>
            <a:off x="1415443" y="6039633"/>
            <a:ext cx="7576156" cy="3462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50" dirty="0"/>
              <a:t>• Validate on test set     • Metrics: Accuracy, F1-Score        • Error analysis.</a:t>
            </a:r>
            <a:endParaRPr lang="en-US" sz="165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7677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9DFE6B-394D-FD6D-D926-3136A84B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10CD30-4D25-554A-81B4-A71F3A31E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3" y="121298"/>
            <a:ext cx="4963886" cy="802433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MODEL ARCHITECTURE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BC19FD-8584-4027-3FB1-A2DADA005F6E}"/>
              </a:ext>
            </a:extLst>
          </p:cNvPr>
          <p:cNvGrpSpPr/>
          <p:nvPr/>
        </p:nvGrpSpPr>
        <p:grpSpPr>
          <a:xfrm>
            <a:off x="0" y="905070"/>
            <a:ext cx="9144000" cy="5413310"/>
            <a:chOff x="0" y="905070"/>
            <a:chExt cx="9144000" cy="541331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F496EE3-DCB9-A595-33CF-CC16EBDE6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905070"/>
              <a:ext cx="9144000" cy="541331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B55E152-A1E8-F470-296B-9AB610A0D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17702" y="4779818"/>
              <a:ext cx="1388649" cy="130363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266272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97CD9-4715-2A6B-0846-FB4851506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EAB09A-315A-4EDB-6ECA-7D94F92A5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CA45C3-A5C9-E95B-FC1C-1D2A39EE2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3" y="121298"/>
            <a:ext cx="4963886" cy="802433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DATASET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F8D245-C2F2-5261-FE59-959334B36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921752"/>
              </p:ext>
            </p:extLst>
          </p:nvPr>
        </p:nvGraphicFramePr>
        <p:xfrm>
          <a:off x="575581" y="3854051"/>
          <a:ext cx="7779081" cy="1590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99188">
                  <a:extLst>
                    <a:ext uri="{9D8B030D-6E8A-4147-A177-3AD203B41FA5}">
                      <a16:colId xmlns:a16="http://schemas.microsoft.com/office/drawing/2014/main" val="1539371760"/>
                    </a:ext>
                  </a:extLst>
                </a:gridCol>
                <a:gridCol w="2786866">
                  <a:extLst>
                    <a:ext uri="{9D8B030D-6E8A-4147-A177-3AD203B41FA5}">
                      <a16:colId xmlns:a16="http://schemas.microsoft.com/office/drawing/2014/main" val="1265935511"/>
                    </a:ext>
                  </a:extLst>
                </a:gridCol>
                <a:gridCol w="2593027">
                  <a:extLst>
                    <a:ext uri="{9D8B030D-6E8A-4147-A177-3AD203B41FA5}">
                      <a16:colId xmlns:a16="http://schemas.microsoft.com/office/drawing/2014/main" val="1444487103"/>
                    </a:ext>
                  </a:extLst>
                </a:gridCol>
              </a:tblGrid>
              <a:tr h="39160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Label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Old Dataset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New Dataset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1140961"/>
                  </a:ext>
                </a:extLst>
              </a:tr>
              <a:tr h="41295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N (Neither / Non-splice)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EI (Exon-Intron)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6315296"/>
                  </a:ext>
                </a:extLst>
              </a:tr>
              <a:tr h="38050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EI (Exon-Intron)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IE (Intron-Exon)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821189"/>
                  </a:ext>
                </a:extLst>
              </a:tr>
              <a:tr h="40587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IE (Intron-Exon)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N (Non-splice)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10653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53E03D-39DE-F7F8-3C7F-97E7C4A3E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723463"/>
              </p:ext>
            </p:extLst>
          </p:nvPr>
        </p:nvGraphicFramePr>
        <p:xfrm>
          <a:off x="575581" y="1276597"/>
          <a:ext cx="7779080" cy="20735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68831">
                  <a:extLst>
                    <a:ext uri="{9D8B030D-6E8A-4147-A177-3AD203B41FA5}">
                      <a16:colId xmlns:a16="http://schemas.microsoft.com/office/drawing/2014/main" val="2681325615"/>
                    </a:ext>
                  </a:extLst>
                </a:gridCol>
                <a:gridCol w="3185337">
                  <a:extLst>
                    <a:ext uri="{9D8B030D-6E8A-4147-A177-3AD203B41FA5}">
                      <a16:colId xmlns:a16="http://schemas.microsoft.com/office/drawing/2014/main" val="605005123"/>
                    </a:ext>
                  </a:extLst>
                </a:gridCol>
                <a:gridCol w="2324912">
                  <a:extLst>
                    <a:ext uri="{9D8B030D-6E8A-4147-A177-3AD203B41FA5}">
                      <a16:colId xmlns:a16="http://schemas.microsoft.com/office/drawing/2014/main" val="407938542"/>
                    </a:ext>
                  </a:extLst>
                </a:gridCol>
              </a:tblGrid>
              <a:tr h="26653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Feature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Old Dataset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</a:rPr>
                        <a:t>New Dataset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7497733"/>
                  </a:ext>
                </a:extLst>
              </a:tr>
              <a:tr h="26653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Samples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3,190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</a:rPr>
                        <a:t>45,619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7256763"/>
                  </a:ext>
                </a:extLst>
              </a:tr>
              <a:tr h="38132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Format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</a:rPr>
                        <a:t>Encoded (180 features)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</a:rPr>
                        <a:t>Raw DNA sequence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9970006"/>
                  </a:ext>
                </a:extLst>
              </a:tr>
              <a:tr h="26653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Input Shape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(60, 3)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</a:rPr>
                        <a:t>(400, 4)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5590199"/>
                  </a:ext>
                </a:extLst>
              </a:tr>
              <a:tr h="35955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Preprocessing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Minimal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</a:rPr>
                        <a:t>One-hot encoding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194970"/>
                  </a:ext>
                </a:extLst>
              </a:tr>
              <a:tr h="26653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Complexity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Low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</a:rPr>
                        <a:t>High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4593660"/>
                  </a:ext>
                </a:extLst>
              </a:tr>
              <a:tr h="26653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Realism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Moderate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</a:rPr>
                        <a:t>High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810801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46C998E-E31F-9118-B5B8-BA49E3C780B2}"/>
              </a:ext>
            </a:extLst>
          </p:cNvPr>
          <p:cNvSpPr txBox="1"/>
          <p:nvPr/>
        </p:nvSpPr>
        <p:spPr>
          <a:xfrm>
            <a:off x="628649" y="5829143"/>
            <a:ext cx="5647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Note: </a:t>
            </a:r>
            <a:r>
              <a:rPr lang="en-US" sz="1800" dirty="0"/>
              <a:t>Raw dataset is more complex but more realistic</a:t>
            </a:r>
          </a:p>
        </p:txBody>
      </p:sp>
    </p:spTree>
    <p:extLst>
      <p:ext uri="{BB962C8B-B14F-4D97-AF65-F5344CB8AC3E}">
        <p14:creationId xmlns:p14="http://schemas.microsoft.com/office/powerpoint/2010/main" val="1253271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CF307-6F5F-5799-F719-531F4BB2A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36C5A0-2245-3A4C-D3FE-DE25C9956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395012-436A-B544-9D5F-1EF108C79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3" y="121298"/>
            <a:ext cx="4963886" cy="802433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DATA EXPLORATION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E64070A-94B2-B354-3B5F-A1CC1C75D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10" y="1814210"/>
            <a:ext cx="3560071" cy="37520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D3636B-29E0-D5C5-D880-0D149D257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010" y="1917865"/>
            <a:ext cx="3275618" cy="33869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EA9283-71EC-7F66-88A8-806AFCE737DA}"/>
              </a:ext>
            </a:extLst>
          </p:cNvPr>
          <p:cNvSpPr txBox="1"/>
          <p:nvPr/>
        </p:nvSpPr>
        <p:spPr>
          <a:xfrm>
            <a:off x="2914650" y="1399289"/>
            <a:ext cx="32189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Dataset Class Distribution (Old vs New)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511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3BF2B-4556-FF83-CECE-3483C7904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38B0C0-9471-1A52-14DD-8BCCEA4C7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CE36EC-DF26-84BF-81CB-3DBF2EE5C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34" y="252606"/>
            <a:ext cx="5533955" cy="802433"/>
          </a:xfrm>
        </p:spPr>
        <p:txBody>
          <a:bodyPr>
            <a:normAutofit fontScale="90000"/>
          </a:bodyPr>
          <a:lstStyle/>
          <a:p>
            <a:r>
              <a:rPr lang="en-US" altLang="en-US" sz="31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UNDERSTANDING THE FUNCTIONS</a:t>
            </a:r>
            <a:br>
              <a:rPr lang="en-US" altLang="en-US" sz="31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endParaRPr lang="en-US" altLang="en-US" sz="2800" b="1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4" name="Picture 3" descr="deep learning - I have created a CNN model and now i want to draw its  architecture diagram can anyone help me with that - Data Science Stack  Exchange">
            <a:extLst>
              <a:ext uri="{FF2B5EF4-FFF2-40B4-BE49-F238E27FC236}">
                <a16:creationId xmlns:a16="http://schemas.microsoft.com/office/drawing/2014/main" id="{633620F2-9B40-8F77-D7C9-CF551C702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727" y="1055039"/>
            <a:ext cx="4819363" cy="270532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53FBD4-E747-6C59-A6CD-240957E9DDEB}"/>
              </a:ext>
            </a:extLst>
          </p:cNvPr>
          <p:cNvSpPr txBox="1"/>
          <p:nvPr/>
        </p:nvSpPr>
        <p:spPr>
          <a:xfrm>
            <a:off x="2577437" y="4162734"/>
            <a:ext cx="1552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CNN</a:t>
            </a:r>
            <a:r>
              <a:rPr lang="en-US" b="1" dirty="0"/>
              <a:t> </a:t>
            </a:r>
            <a:r>
              <a:rPr lang="en-US" sz="1800" b="1" dirty="0"/>
              <a:t>Network</a:t>
            </a:r>
            <a:r>
              <a:rPr lang="en-US" b="1" dirty="0"/>
              <a:t>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5B970D-6E28-E6A1-95E2-B988BC757164}"/>
              </a:ext>
            </a:extLst>
          </p:cNvPr>
          <p:cNvSpPr txBox="1"/>
          <p:nvPr/>
        </p:nvSpPr>
        <p:spPr>
          <a:xfrm>
            <a:off x="3112711" y="4162734"/>
            <a:ext cx="4572000" cy="6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en-US" sz="1400" b="1" i="0" u="sng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https://i.sstatic.net/pQHBE.png</a:t>
            </a:r>
            <a:endParaRPr lang="en-US" sz="1400" b="1" i="0" u="sng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Aft>
                <a:spcPts val="1000"/>
              </a:spcAft>
              <a:buNone/>
            </a:pPr>
            <a:endParaRPr lang="en-US" sz="1400" b="1" i="0" u="sng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904919-A97E-14E9-A726-4311E0B76E1D}"/>
              </a:ext>
            </a:extLst>
          </p:cNvPr>
          <p:cNvSpPr txBox="1"/>
          <p:nvPr/>
        </p:nvSpPr>
        <p:spPr>
          <a:xfrm>
            <a:off x="995914" y="4872886"/>
            <a:ext cx="88055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Detects local nucleotide motifs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Learns spatial patterns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Reduces dimensionality using pooling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Learns hierarchical feature representations automatically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Automatically extracts features</a:t>
            </a:r>
          </a:p>
        </p:txBody>
      </p:sp>
    </p:spTree>
    <p:extLst>
      <p:ext uri="{BB962C8B-B14F-4D97-AF65-F5344CB8AC3E}">
        <p14:creationId xmlns:p14="http://schemas.microsoft.com/office/powerpoint/2010/main" val="3759895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ABEF9-C728-C339-E887-791BC5355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889425-167B-54A9-BD9A-145C9EFC4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BA28DC-87E6-7761-76CD-D165BAC22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34" y="252606"/>
            <a:ext cx="5533955" cy="802433"/>
          </a:xfrm>
        </p:spPr>
        <p:txBody>
          <a:bodyPr>
            <a:normAutofit fontScale="90000"/>
          </a:bodyPr>
          <a:lstStyle/>
          <a:p>
            <a:r>
              <a:rPr lang="en-US" altLang="en-US" sz="31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UNDERSTANDING THE FUNCTIONS</a:t>
            </a:r>
            <a:br>
              <a:rPr lang="en-US" altLang="en-US" sz="31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endParaRPr lang="en-US" altLang="en-US" sz="2800" b="1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" name="Picture 5" descr="Understanding Bidirectional LSTM for Sequential Data Processing | by  Anishnama | Medium">
            <a:extLst>
              <a:ext uri="{FF2B5EF4-FFF2-40B4-BE49-F238E27FC236}">
                <a16:creationId xmlns:a16="http://schemas.microsoft.com/office/drawing/2014/main" id="{0A2FA8A5-8AA5-B285-3416-7FFD14229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850" y="1189703"/>
            <a:ext cx="4828300" cy="234105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A6688B-FDEC-8E16-1545-A4A928175702}"/>
              </a:ext>
            </a:extLst>
          </p:cNvPr>
          <p:cNvSpPr txBox="1"/>
          <p:nvPr/>
        </p:nvSpPr>
        <p:spPr>
          <a:xfrm>
            <a:off x="2595347" y="3805455"/>
            <a:ext cx="18591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BiLSTM Model 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B02944-AF43-BCA2-5518-8C117ACCD365}"/>
              </a:ext>
            </a:extLst>
          </p:cNvPr>
          <p:cNvSpPr txBox="1"/>
          <p:nvPr/>
        </p:nvSpPr>
        <p:spPr>
          <a:xfrm>
            <a:off x="4454448" y="3802997"/>
            <a:ext cx="4204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u="sng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https://medium.com/@anishnama20/understanding-bidirectional-lstm-for-sequential-data-processing-b83d6283befc</a:t>
            </a:r>
            <a:endParaRPr lang="en-US" sz="800" b="1" u="sng" dirty="0"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3CFAC8-9B92-A830-B113-22327DC9E89E}"/>
              </a:ext>
            </a:extLst>
          </p:cNvPr>
          <p:cNvSpPr txBox="1"/>
          <p:nvPr/>
        </p:nvSpPr>
        <p:spPr>
          <a:xfrm>
            <a:off x="978002" y="4276215"/>
            <a:ext cx="71879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Captures long-range dependencies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Processes sequences bidirectionally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Learns contextual relationships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Improves classification accuracy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Enhances prediction accuracy when combined with CNN</a:t>
            </a:r>
          </a:p>
        </p:txBody>
      </p:sp>
    </p:spTree>
    <p:extLst>
      <p:ext uri="{BB962C8B-B14F-4D97-AF65-F5344CB8AC3E}">
        <p14:creationId xmlns:p14="http://schemas.microsoft.com/office/powerpoint/2010/main" val="2964377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C475D-9BC1-ACEB-ABAA-ECD1AFBA1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B9631C-8D1C-8CFC-AF19-47176CD5A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A71688-300E-C8BD-724D-7BA977C19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34" y="252606"/>
            <a:ext cx="5533955" cy="802433"/>
          </a:xfrm>
        </p:spPr>
        <p:txBody>
          <a:bodyPr>
            <a:normAutofit fontScale="90000"/>
          </a:bodyPr>
          <a:lstStyle/>
          <a:p>
            <a:r>
              <a:rPr lang="en-US" altLang="en-US" sz="31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TRAINING STRATEGY</a:t>
            </a:r>
            <a:br>
              <a:rPr lang="en-US" altLang="en-US" sz="31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endParaRPr lang="en-US" altLang="en-US" sz="2800" b="1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025030-DD25-5CD0-FA7A-B1424B58F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88" y="1558025"/>
            <a:ext cx="444596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Parameters Used: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 Rate: 0.001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Size: 32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Epochs: 50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 Filters: 64, 128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BiLSTM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Units: 64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Dropout: 0.3 </a:t>
            </a:r>
          </a:p>
        </p:txBody>
      </p:sp>
    </p:spTree>
    <p:extLst>
      <p:ext uri="{BB962C8B-B14F-4D97-AF65-F5344CB8AC3E}">
        <p14:creationId xmlns:p14="http://schemas.microsoft.com/office/powerpoint/2010/main" val="3609727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D9098E-5BEC-EE4C-91E9-41A1CB5F73B3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66207839-FAB5-C647-B752-1E110BE99279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OBTAINED 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8437EB-2167-4AA1-BF66-4E9103D7B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A51C24-71EF-DBD5-2EA4-4EA0378E07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1" b="1171"/>
          <a:stretch>
            <a:fillRect/>
          </a:stretch>
        </p:blipFill>
        <p:spPr>
          <a:xfrm>
            <a:off x="314697" y="2027141"/>
            <a:ext cx="4174176" cy="28037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2A00B2-4A37-629C-431E-64212005F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027140"/>
            <a:ext cx="4257303" cy="28037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D67003-5BA9-F9D6-0CB4-4BF7D29FAC61}"/>
              </a:ext>
            </a:extLst>
          </p:cNvPr>
          <p:cNvSpPr txBox="1"/>
          <p:nvPr/>
        </p:nvSpPr>
        <p:spPr>
          <a:xfrm>
            <a:off x="2914650" y="1691724"/>
            <a:ext cx="33377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Training vs Validation Loss (Old &amp; New)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3A8B57-F209-325D-86DB-B578C0C545ED}"/>
              </a:ext>
            </a:extLst>
          </p:cNvPr>
          <p:cNvSpPr txBox="1"/>
          <p:nvPr/>
        </p:nvSpPr>
        <p:spPr>
          <a:xfrm>
            <a:off x="771896" y="5605153"/>
            <a:ext cx="774345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Note: All the figures in comparison part 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/>
              <a:t>Left: Old dataset | Right: New dataset</a:t>
            </a:r>
          </a:p>
        </p:txBody>
      </p:sp>
    </p:spTree>
    <p:extLst>
      <p:ext uri="{BB962C8B-B14F-4D97-AF65-F5344CB8AC3E}">
        <p14:creationId xmlns:p14="http://schemas.microsoft.com/office/powerpoint/2010/main" val="2985942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23138-9BE5-3A0F-8E61-BA783BDA8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5B3830-70AC-A82A-CB63-8C4DBED1899A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BF2E341F-6FB9-008C-881E-0CE9F8379F34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OBTAINED 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010CA0-3215-E355-38FA-F3D93A095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360597-50AF-4E0B-BC83-ABBA4CDF24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1" b="321"/>
          <a:stretch>
            <a:fillRect/>
          </a:stretch>
        </p:blipFill>
        <p:spPr>
          <a:xfrm>
            <a:off x="577406" y="2071260"/>
            <a:ext cx="3867840" cy="27154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5AFD90-3202-A656-C57D-E02FF7009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383" y="2071260"/>
            <a:ext cx="3798682" cy="27154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1E1238-7509-D360-F956-F72C56D8DC2F}"/>
              </a:ext>
            </a:extLst>
          </p:cNvPr>
          <p:cNvSpPr txBox="1"/>
          <p:nvPr/>
        </p:nvSpPr>
        <p:spPr>
          <a:xfrm>
            <a:off x="2861953" y="1647605"/>
            <a:ext cx="37526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Training vs Validation Accuracy (Old vs New)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6403B8-E5AB-CCD8-325F-5A8DD012D208}"/>
              </a:ext>
            </a:extLst>
          </p:cNvPr>
          <p:cNvSpPr txBox="1"/>
          <p:nvPr/>
        </p:nvSpPr>
        <p:spPr>
          <a:xfrm>
            <a:off x="771896" y="4703461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u="sng" dirty="0"/>
              <a:t>Old Dataset:</a:t>
            </a:r>
            <a:br>
              <a:rPr lang="en-US" b="1" dirty="0"/>
            </a:br>
            <a:r>
              <a:rPr lang="en-US" dirty="0"/>
              <a:t>Accuracy: 94.04%</a:t>
            </a:r>
            <a:br>
              <a:rPr lang="en-US" b="1" dirty="0"/>
            </a:br>
            <a:br>
              <a:rPr lang="en-US" b="1" dirty="0"/>
            </a:br>
            <a:r>
              <a:rPr lang="en-US" b="1" i="1" u="sng" dirty="0"/>
              <a:t>New Dataset:</a:t>
            </a:r>
            <a:br>
              <a:rPr lang="en-US" b="1" dirty="0"/>
            </a:br>
            <a:r>
              <a:rPr lang="en-US" dirty="0"/>
              <a:t>Accuracy: 90.50%</a:t>
            </a:r>
            <a:br>
              <a:rPr lang="en-US" dirty="0"/>
            </a:br>
            <a:br>
              <a:rPr lang="en-US" dirty="0"/>
            </a:br>
            <a:r>
              <a:rPr lang="en-US" b="1" i="1" u="sng" dirty="0"/>
              <a:t>Observation:</a:t>
            </a:r>
            <a:br>
              <a:rPr lang="en-US" dirty="0"/>
            </a:br>
            <a:r>
              <a:rPr lang="en-US" dirty="0"/>
              <a:t>• Slight drop due to raw sequence complexity</a:t>
            </a:r>
          </a:p>
        </p:txBody>
      </p:sp>
    </p:spTree>
    <p:extLst>
      <p:ext uri="{BB962C8B-B14F-4D97-AF65-F5344CB8AC3E}">
        <p14:creationId xmlns:p14="http://schemas.microsoft.com/office/powerpoint/2010/main" val="16538500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63578-92F7-041B-3746-92CCC6F3F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BC8F98-B716-AB95-D6C3-ED8B7C082F3F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6C5D0734-F16F-FDA9-9510-3CEF55B43F9E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OBTAINED 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523B9E-CEE9-B3B5-A018-CF000FC6C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661F9F-21BF-8A28-E0FD-6994B766FA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521" y="2069683"/>
            <a:ext cx="4442621" cy="3183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FAE89D-FC8D-3CC7-6F65-8D3EC9263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859" y="2069682"/>
            <a:ext cx="4373101" cy="31830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5E07D5-DB88-6D3F-3782-B2D598BFFF76}"/>
              </a:ext>
            </a:extLst>
          </p:cNvPr>
          <p:cNvSpPr txBox="1"/>
          <p:nvPr/>
        </p:nvSpPr>
        <p:spPr>
          <a:xfrm>
            <a:off x="2867816" y="1553889"/>
            <a:ext cx="3296652" cy="300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Classification Report Of Old vs New 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37FCBA-051A-3F9D-3E31-06595F767579}"/>
              </a:ext>
            </a:extLst>
          </p:cNvPr>
          <p:cNvSpPr txBox="1"/>
          <p:nvPr/>
        </p:nvSpPr>
        <p:spPr>
          <a:xfrm>
            <a:off x="400050" y="5705904"/>
            <a:ext cx="79304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Key Insight:</a:t>
            </a:r>
            <a:br>
              <a:rPr lang="en-US" sz="1800" dirty="0"/>
            </a:br>
            <a:r>
              <a:rPr lang="en-US" sz="1800" dirty="0"/>
              <a:t>Model performs better on structured data but generalizes well to raw sequences</a:t>
            </a:r>
          </a:p>
        </p:txBody>
      </p:sp>
    </p:spTree>
    <p:extLst>
      <p:ext uri="{BB962C8B-B14F-4D97-AF65-F5344CB8AC3E}">
        <p14:creationId xmlns:p14="http://schemas.microsoft.com/office/powerpoint/2010/main" val="1499353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0001-8317-AA91-E7A6-F19380A00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B53E61-1335-396A-02B9-426DF7EA7E26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B38F087B-62F6-5165-75EF-B37966DF80D9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OBTAINED 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1316FC-0585-9EC9-9BC9-A85BDF9F2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319AB3-0BBE-6027-4158-56BBCC8AB5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92" b="6992"/>
          <a:stretch>
            <a:fillRect/>
          </a:stretch>
        </p:blipFill>
        <p:spPr bwMode="auto">
          <a:xfrm>
            <a:off x="265312" y="2101851"/>
            <a:ext cx="3857408" cy="337849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89DCFF-7A50-C8CD-1753-4E854DF8A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865" y="1913579"/>
            <a:ext cx="3530263" cy="35667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6E0EB0-9749-E5FF-6392-E68348CD93AD}"/>
              </a:ext>
            </a:extLst>
          </p:cNvPr>
          <p:cNvSpPr txBox="1"/>
          <p:nvPr/>
        </p:nvSpPr>
        <p:spPr>
          <a:xfrm>
            <a:off x="2194016" y="150996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1000"/>
              </a:spcAft>
              <a:buNone/>
            </a:pPr>
            <a:r>
              <a:rPr lang="en-US" sz="1400" b="1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Confusion Matrix of CNN-</a:t>
            </a:r>
            <a:r>
              <a:rPr lang="en-US" sz="1400" b="1" i="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BiLSTM</a:t>
            </a:r>
            <a:r>
              <a:rPr lang="en-US" sz="1400" b="1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Model (Old Vs New)</a:t>
            </a:r>
            <a:endParaRPr lang="en-US" sz="1600" b="1" i="1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16687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37118-7DDB-D338-FBF1-3CB90B4EE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241952-6552-643A-3503-3A91E7CA2879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506A5BB8-AAB4-29F8-0AA7-39A569C39A05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OBTAINED 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DF7A98-13EB-EE57-4377-6A0E2F38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A92B83-0AF0-ECA1-4B63-3D1A7DAAFA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0" b="700"/>
          <a:stretch>
            <a:fillRect/>
          </a:stretch>
        </p:blipFill>
        <p:spPr>
          <a:xfrm>
            <a:off x="237114" y="2020581"/>
            <a:ext cx="4067986" cy="32357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837BFA-AAC7-DF44-EAEB-38F6B0DAE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752" y="2020158"/>
            <a:ext cx="3972297" cy="32361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3EDE2B-A802-C143-897A-0D983D713630}"/>
              </a:ext>
            </a:extLst>
          </p:cNvPr>
          <p:cNvSpPr txBox="1"/>
          <p:nvPr/>
        </p:nvSpPr>
        <p:spPr>
          <a:xfrm>
            <a:off x="1626921" y="1539528"/>
            <a:ext cx="62879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1000"/>
              </a:spcAft>
              <a:buNone/>
            </a:pPr>
            <a:r>
              <a:rPr lang="en-US" sz="1400" b="1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ROC curve showing model discrimination performance (Old vs New)</a:t>
            </a:r>
            <a:endParaRPr lang="en-US" sz="1600" i="1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361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32916-F963-9716-003C-B1B2E3BB2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C2BA11-5355-448D-90B3-DA5A892BBAB2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0648AE8B-EC8C-EEAC-A04F-BFA7C0F715A9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OBTAINED 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6AC5B6-460A-8B47-4CCA-D10A815D1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542975-2977-350C-7D1C-4ACCAC47D8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" r="297"/>
          <a:stretch>
            <a:fillRect/>
          </a:stretch>
        </p:blipFill>
        <p:spPr>
          <a:xfrm>
            <a:off x="356591" y="2020158"/>
            <a:ext cx="3864393" cy="32361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256CED-398C-BF23-7B3A-53C3E26E0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060" y="2020158"/>
            <a:ext cx="3947418" cy="32319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DF63F9-BB39-D40F-8E27-673B48ADDBDC}"/>
              </a:ext>
            </a:extLst>
          </p:cNvPr>
          <p:cNvSpPr txBox="1"/>
          <p:nvPr/>
        </p:nvSpPr>
        <p:spPr>
          <a:xfrm>
            <a:off x="2288787" y="160171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1000"/>
              </a:spcAft>
              <a:buNone/>
            </a:pPr>
            <a:r>
              <a:rPr lang="en-US" sz="1400" b="1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Precision-Recall curve (Old vs New)</a:t>
            </a:r>
            <a:endParaRPr lang="en-US" sz="1600" i="1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21621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0187E-0645-8161-AC0A-3FAE3251B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8694E6-A66B-77A9-41F8-56A62897D391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13E223B-C911-C5CA-4448-D5541EC2F6AB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OBTAINED 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A21AA3-0DC7-FC65-55A7-B2833830E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E5F0CD-99FE-C5C3-161A-1A727C0AF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15" y="1157845"/>
            <a:ext cx="2669876" cy="51301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5E7625-C055-5223-9E20-6DD26E92D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389" y="1174912"/>
            <a:ext cx="2594759" cy="51130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7A9D5A-0C86-7274-B4C0-F7664A60C021}"/>
              </a:ext>
            </a:extLst>
          </p:cNvPr>
          <p:cNvSpPr txBox="1"/>
          <p:nvPr/>
        </p:nvSpPr>
        <p:spPr>
          <a:xfrm>
            <a:off x="3129148" y="875511"/>
            <a:ext cx="29628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Misclassified Samples (Old Vs New)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CF56A3-FAF9-5455-AF9C-6FC31C2D6BEF}"/>
              </a:ext>
            </a:extLst>
          </p:cNvPr>
          <p:cNvSpPr txBox="1"/>
          <p:nvPr/>
        </p:nvSpPr>
        <p:spPr>
          <a:xfrm>
            <a:off x="332509" y="6213645"/>
            <a:ext cx="457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Insight:</a:t>
            </a:r>
            <a:br>
              <a:rPr lang="en-US" dirty="0"/>
            </a:br>
            <a:r>
              <a:rPr lang="en-US" dirty="0"/>
              <a:t>Most errors occur in Non-splice (N) class</a:t>
            </a:r>
          </a:p>
        </p:txBody>
      </p:sp>
    </p:spTree>
    <p:extLst>
      <p:ext uri="{BB962C8B-B14F-4D97-AF65-F5344CB8AC3E}">
        <p14:creationId xmlns:p14="http://schemas.microsoft.com/office/powerpoint/2010/main" val="37948575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93D85-5FDB-8E0B-440C-FE8A9058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4F785F-1BB5-23CA-FDC0-ECC5B52ECEF1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1D54B4C1-42F9-45EA-02EF-D7D078BB6CEF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OBTAINED 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99594D-6B41-97C3-B6F2-127F06B1E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DE41C3-751C-66FB-13B2-6550CCC3D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358" y="1892498"/>
            <a:ext cx="2735285" cy="10228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5777E1-197B-97DA-9214-D7B586FD5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547" y="1892496"/>
            <a:ext cx="2905016" cy="10228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E65B4D-0614-9E6F-15EC-021733D93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91" y="3429000"/>
            <a:ext cx="3659609" cy="26539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EB033A-15AA-D413-1750-F3B3E08002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2485" y="3429000"/>
            <a:ext cx="3541494" cy="26115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C7BDAEC-2E90-9162-3EB5-1131507EBE42}"/>
              </a:ext>
            </a:extLst>
          </p:cNvPr>
          <p:cNvSpPr txBox="1"/>
          <p:nvPr/>
        </p:nvSpPr>
        <p:spPr>
          <a:xfrm>
            <a:off x="2143496" y="135994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1000"/>
              </a:spcAft>
              <a:buNone/>
            </a:pPr>
            <a:r>
              <a:rPr lang="en-US" sz="1400" b="1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Hyperparameters Tuning Results (Old vs New)</a:t>
            </a:r>
            <a:endParaRPr lang="en-US" sz="1600" i="1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F79343-C839-F614-7D22-F21B62F7620E}"/>
              </a:ext>
            </a:extLst>
          </p:cNvPr>
          <p:cNvSpPr txBox="1"/>
          <p:nvPr/>
        </p:nvSpPr>
        <p:spPr>
          <a:xfrm>
            <a:off x="2951018" y="3066120"/>
            <a:ext cx="32419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CNN Filter Interpretation (Old vs New)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A37E0D-9C69-749E-1724-270D7A328AD9}"/>
              </a:ext>
            </a:extLst>
          </p:cNvPr>
          <p:cNvSpPr txBox="1"/>
          <p:nvPr/>
        </p:nvSpPr>
        <p:spPr>
          <a:xfrm>
            <a:off x="493547" y="6138007"/>
            <a:ext cx="457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Insight:</a:t>
            </a:r>
            <a:br>
              <a:rPr lang="en-US" dirty="0"/>
            </a:br>
            <a:r>
              <a:rPr lang="en-US" dirty="0"/>
              <a:t>CNN filters learn biologically meaningful motifs</a:t>
            </a:r>
          </a:p>
        </p:txBody>
      </p:sp>
    </p:spTree>
    <p:extLst>
      <p:ext uri="{BB962C8B-B14F-4D97-AF65-F5344CB8AC3E}">
        <p14:creationId xmlns:p14="http://schemas.microsoft.com/office/powerpoint/2010/main" val="25969151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71405-A171-A7A4-1D55-E11364E6D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D89179-C275-AB30-EBF8-8579C68577A7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393A1E15-98FF-10B0-12E6-E20BB8401F02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OBTAINED 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4C8253-3008-4757-A7D1-266B72131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25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024FAC-9D40-13ED-099E-BEB980158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719776"/>
              </p:ext>
            </p:extLst>
          </p:nvPr>
        </p:nvGraphicFramePr>
        <p:xfrm>
          <a:off x="700644" y="1318162"/>
          <a:ext cx="7338951" cy="19018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54969">
                  <a:extLst>
                    <a:ext uri="{9D8B030D-6E8A-4147-A177-3AD203B41FA5}">
                      <a16:colId xmlns:a16="http://schemas.microsoft.com/office/drawing/2014/main" val="1971496491"/>
                    </a:ext>
                  </a:extLst>
                </a:gridCol>
                <a:gridCol w="2551152">
                  <a:extLst>
                    <a:ext uri="{9D8B030D-6E8A-4147-A177-3AD203B41FA5}">
                      <a16:colId xmlns:a16="http://schemas.microsoft.com/office/drawing/2014/main" val="13585484"/>
                    </a:ext>
                  </a:extLst>
                </a:gridCol>
                <a:gridCol w="2132830">
                  <a:extLst>
                    <a:ext uri="{9D8B030D-6E8A-4147-A177-3AD203B41FA5}">
                      <a16:colId xmlns:a16="http://schemas.microsoft.com/office/drawing/2014/main" val="1652275069"/>
                    </a:ext>
                  </a:extLst>
                </a:gridCol>
              </a:tblGrid>
              <a:tr h="38036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200">
                          <a:effectLst/>
                        </a:rPr>
                        <a:t>Metric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200">
                          <a:effectLst/>
                        </a:rPr>
                        <a:t>Old Dataset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200" dirty="0">
                          <a:effectLst/>
                        </a:rPr>
                        <a:t>New Dataset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1128342"/>
                  </a:ext>
                </a:extLst>
              </a:tr>
              <a:tr h="38036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200">
                          <a:effectLst/>
                        </a:rPr>
                        <a:t>Accuracy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200">
                          <a:effectLst/>
                        </a:rPr>
                        <a:t>94.04%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200" dirty="0">
                          <a:effectLst/>
                        </a:rPr>
                        <a:t>90.50%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61272129"/>
                  </a:ext>
                </a:extLst>
              </a:tr>
              <a:tr h="38036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200" dirty="0">
                          <a:effectLst/>
                        </a:rPr>
                        <a:t>Precision (Macro)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200">
                          <a:effectLst/>
                        </a:rPr>
                        <a:t>93.48%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200" dirty="0">
                          <a:effectLst/>
                        </a:rPr>
                        <a:t>88.40%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9176153"/>
                  </a:ext>
                </a:extLst>
              </a:tr>
              <a:tr h="38036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200">
                          <a:effectLst/>
                        </a:rPr>
                        <a:t>Recall (Macro)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200">
                          <a:effectLst/>
                        </a:rPr>
                        <a:t>94.32%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200" dirty="0">
                          <a:effectLst/>
                        </a:rPr>
                        <a:t>92.70%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933441"/>
                  </a:ext>
                </a:extLst>
              </a:tr>
              <a:tr h="38036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200" dirty="0">
                          <a:effectLst/>
                        </a:rPr>
                        <a:t>F1 Score (Macro)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200">
                          <a:effectLst/>
                        </a:rPr>
                        <a:t>93.86%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200" dirty="0">
                          <a:effectLst/>
                        </a:rPr>
                        <a:t>90.20%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762827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57DBE86-8B5E-A03E-CA8A-995B3BB905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325163"/>
              </p:ext>
            </p:extLst>
          </p:nvPr>
        </p:nvGraphicFramePr>
        <p:xfrm>
          <a:off x="700645" y="3509159"/>
          <a:ext cx="7338949" cy="11994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77324">
                  <a:extLst>
                    <a:ext uri="{9D8B030D-6E8A-4147-A177-3AD203B41FA5}">
                      <a16:colId xmlns:a16="http://schemas.microsoft.com/office/drawing/2014/main" val="2497892850"/>
                    </a:ext>
                  </a:extLst>
                </a:gridCol>
                <a:gridCol w="2312789">
                  <a:extLst>
                    <a:ext uri="{9D8B030D-6E8A-4147-A177-3AD203B41FA5}">
                      <a16:colId xmlns:a16="http://schemas.microsoft.com/office/drawing/2014/main" val="2442680296"/>
                    </a:ext>
                  </a:extLst>
                </a:gridCol>
                <a:gridCol w="2448836">
                  <a:extLst>
                    <a:ext uri="{9D8B030D-6E8A-4147-A177-3AD203B41FA5}">
                      <a16:colId xmlns:a16="http://schemas.microsoft.com/office/drawing/2014/main" val="2343815978"/>
                    </a:ext>
                  </a:extLst>
                </a:gridCol>
              </a:tblGrid>
              <a:tr h="29710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</a:rPr>
                        <a:t>Model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Accuracy (Old)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</a:rPr>
                        <a:t>Accuracy (New)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4734876"/>
                  </a:ext>
                </a:extLst>
              </a:tr>
              <a:tr h="30810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SVM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95.92%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</a:rPr>
                        <a:t>79.15%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2912909"/>
                  </a:ext>
                </a:extLst>
              </a:tr>
              <a:tr h="29710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Random Forest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96.24%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</a:rPr>
                        <a:t>73.69%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4695502"/>
                  </a:ext>
                </a:extLst>
              </a:tr>
              <a:tr h="29710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</a:rPr>
                        <a:t>CNN - </a:t>
                      </a:r>
                      <a:r>
                        <a:rPr lang="en-US" sz="1600" dirty="0" err="1">
                          <a:effectLst/>
                        </a:rPr>
                        <a:t>BiLSTM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94.04%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</a:rPr>
                        <a:t>90.50%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0784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463F385-C884-F633-4685-4B46D59F9B93}"/>
              </a:ext>
            </a:extLst>
          </p:cNvPr>
          <p:cNvSpPr txBox="1"/>
          <p:nvPr/>
        </p:nvSpPr>
        <p:spPr>
          <a:xfrm>
            <a:off x="700644" y="5060396"/>
            <a:ext cx="457200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OBSERVATIONS:</a:t>
            </a:r>
            <a:r>
              <a:rPr lang="en-US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High accuracy (94.04% FOR Old and 90.50% for New)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Strong generalization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N class highest precision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EI / IE slight confusion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Robust across datasets</a:t>
            </a:r>
          </a:p>
        </p:txBody>
      </p:sp>
    </p:spTree>
    <p:extLst>
      <p:ext uri="{BB962C8B-B14F-4D97-AF65-F5344CB8AC3E}">
        <p14:creationId xmlns:p14="http://schemas.microsoft.com/office/powerpoint/2010/main" val="10882856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0902F3-6AC2-F5CE-FD22-F326BE07D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531049-8AF4-7024-88A4-BA03BD817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445" y="137142"/>
            <a:ext cx="7249960" cy="709700"/>
          </a:xfrm>
        </p:spPr>
        <p:txBody>
          <a:bodyPr>
            <a:normAutofit/>
          </a:bodyPr>
          <a:lstStyle/>
          <a:p>
            <a:r>
              <a:rPr lang="en-US" sz="2700" b="1" dirty="0">
                <a:solidFill>
                  <a:schemeClr val="bg1"/>
                </a:solidFill>
                <a:latin typeface="Calibri"/>
                <a:ea typeface="+mj-lt"/>
                <a:cs typeface="+mj-lt"/>
              </a:rPr>
              <a:t>CONCLUSION &amp; FUTURE WORK</a:t>
            </a:r>
            <a:endParaRPr lang="en-US" b="1" dirty="0">
              <a:solidFill>
                <a:schemeClr val="bg1"/>
              </a:solidFill>
              <a:latin typeface="Calibri"/>
              <a:ea typeface="Calibri Light"/>
              <a:cs typeface="Calibri Ligh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869D5-9993-46DD-0513-8EED1644A2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9445" y="1184742"/>
            <a:ext cx="8230342" cy="483370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Conclusion</a:t>
            </a:r>
          </a:p>
          <a:p>
            <a:r>
              <a:rPr lang="en-US" dirty="0"/>
              <a:t>CNN - </a:t>
            </a:r>
            <a:r>
              <a:rPr lang="en-US" dirty="0" err="1"/>
              <a:t>BiLSTM</a:t>
            </a:r>
            <a:r>
              <a:rPr lang="en-US" dirty="0"/>
              <a:t> model is effective</a:t>
            </a:r>
          </a:p>
          <a:p>
            <a:r>
              <a:rPr lang="en-US" dirty="0"/>
              <a:t>Outperforms traditional models</a:t>
            </a:r>
          </a:p>
          <a:p>
            <a:r>
              <a:rPr lang="en-US" dirty="0"/>
              <a:t>Captures local + sequential features</a:t>
            </a:r>
          </a:p>
          <a:p>
            <a:r>
              <a:rPr lang="en-US" dirty="0"/>
              <a:t>Works on both encoded and raw data</a:t>
            </a:r>
          </a:p>
          <a:p>
            <a:pPr marL="0" indent="0">
              <a:buNone/>
            </a:pPr>
            <a:r>
              <a:rPr lang="en-US" b="1" dirty="0"/>
              <a:t>Future Work</a:t>
            </a:r>
          </a:p>
          <a:p>
            <a:r>
              <a:rPr lang="en-US" dirty="0"/>
              <a:t>Integration of attention mechanisms</a:t>
            </a:r>
          </a:p>
          <a:p>
            <a:r>
              <a:rPr lang="en-US" dirty="0"/>
              <a:t>Explore Transformer-based models</a:t>
            </a:r>
          </a:p>
          <a:p>
            <a:r>
              <a:rPr lang="en-US" dirty="0"/>
              <a:t>Apply Explainable AI techniques</a:t>
            </a:r>
          </a:p>
          <a:p>
            <a:r>
              <a:rPr lang="en-US" dirty="0"/>
              <a:t>Use larger genomic datasets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390207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3AE2F-4C5C-B021-A6C8-F0C4AC5A2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B2B2831-5B71-0BBA-CB26-422547F5C3D3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Team-Work Distribution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14120E-462D-E360-4B48-84F109DC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15F07F1-07D1-03D9-BEE3-807EA7842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117857"/>
              </p:ext>
            </p:extLst>
          </p:nvPr>
        </p:nvGraphicFramePr>
        <p:xfrm>
          <a:off x="184068" y="1055549"/>
          <a:ext cx="8823366" cy="4909629"/>
        </p:xfrm>
        <a:graphic>
          <a:graphicData uri="http://schemas.openxmlformats.org/drawingml/2006/table">
            <a:tbl>
              <a:tblPr>
                <a:tableStyleId>{327F97BB-C833-4FB7-BDE5-3F7075034690}</a:tableStyleId>
              </a:tblPr>
              <a:tblGrid>
                <a:gridCol w="966084">
                  <a:extLst>
                    <a:ext uri="{9D8B030D-6E8A-4147-A177-3AD203B41FA5}">
                      <a16:colId xmlns:a16="http://schemas.microsoft.com/office/drawing/2014/main" val="1463043907"/>
                    </a:ext>
                  </a:extLst>
                </a:gridCol>
                <a:gridCol w="3289907">
                  <a:extLst>
                    <a:ext uri="{9D8B030D-6E8A-4147-A177-3AD203B41FA5}">
                      <a16:colId xmlns:a16="http://schemas.microsoft.com/office/drawing/2014/main" val="1329815291"/>
                    </a:ext>
                  </a:extLst>
                </a:gridCol>
                <a:gridCol w="4567375">
                  <a:extLst>
                    <a:ext uri="{9D8B030D-6E8A-4147-A177-3AD203B41FA5}">
                      <a16:colId xmlns:a16="http://schemas.microsoft.com/office/drawing/2014/main" val="2506581946"/>
                    </a:ext>
                  </a:extLst>
                </a:gridCol>
              </a:tblGrid>
              <a:tr h="126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Team Member</a:t>
                      </a:r>
                      <a:endParaRPr lang="en-US" sz="1400" dirty="0"/>
                    </a:p>
                  </a:txBody>
                  <a:tcPr marL="47817" marR="47817" marT="23908" marB="2390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Primary Contributions</a:t>
                      </a:r>
                      <a:endParaRPr lang="en-US" sz="1400" dirty="0"/>
                    </a:p>
                  </a:txBody>
                  <a:tcPr marL="47817" marR="47817" marT="23908" marB="23908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Responsibilities</a:t>
                      </a:r>
                      <a:endParaRPr lang="en-US" sz="1400" dirty="0"/>
                    </a:p>
                  </a:txBody>
                  <a:tcPr marL="47817" marR="47817" marT="23908" marB="23908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555244"/>
                  </a:ext>
                </a:extLst>
              </a:tr>
              <a:tr h="1575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SWAYAM</a:t>
                      </a:r>
                      <a:endParaRPr lang="en-US" sz="1400" dirty="0"/>
                    </a:p>
                  </a:txBody>
                  <a:tcPr marL="47817" marR="47817" marT="23908" marB="23908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• Project Coordination &amp; Model Design </a:t>
                      </a:r>
                    </a:p>
                    <a:p>
                      <a:pPr algn="l">
                        <a:buNone/>
                      </a:pPr>
                      <a:r>
                        <a:rPr lang="en-US" sz="1400" dirty="0"/>
                        <a:t>• CNN - </a:t>
                      </a:r>
                      <a:r>
                        <a:rPr lang="en-US" sz="1400" dirty="0" err="1"/>
                        <a:t>BiLSTM</a:t>
                      </a:r>
                      <a:r>
                        <a:rPr lang="en-US" sz="1400" dirty="0"/>
                        <a:t> Architecture Planning </a:t>
                      </a:r>
                    </a:p>
                    <a:p>
                      <a:pPr algn="l">
                        <a:buNone/>
                      </a:pPr>
                      <a:r>
                        <a:rPr lang="en-US" sz="1400" dirty="0"/>
                        <a:t>• Literature Review Analysis </a:t>
                      </a:r>
                    </a:p>
                    <a:p>
                      <a:pPr algn="l">
                        <a:buNone/>
                      </a:pPr>
                      <a:r>
                        <a:rPr lang="en-US" sz="1400" dirty="0"/>
                        <a:t>• Final Report Structuring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• Design hybrid CNN - </a:t>
                      </a:r>
                      <a:r>
                        <a:rPr lang="en-US" sz="1400" dirty="0" err="1"/>
                        <a:t>BiLSTM</a:t>
                      </a:r>
                      <a:r>
                        <a:rPr lang="en-US" sz="1400" dirty="0"/>
                        <a:t> model architecture </a:t>
                      </a:r>
                    </a:p>
                    <a:p>
                      <a:pPr algn="l">
                        <a:buNone/>
                      </a:pPr>
                      <a:r>
                        <a:rPr lang="en-US" sz="1400" dirty="0"/>
                        <a:t>• Lead weekly discussions and milestone tracking </a:t>
                      </a:r>
                    </a:p>
                    <a:p>
                      <a:pPr algn="l">
                        <a:buNone/>
                      </a:pPr>
                      <a:r>
                        <a:rPr lang="en-US" sz="1400" dirty="0"/>
                        <a:t>• Review and integrate research findings </a:t>
                      </a:r>
                    </a:p>
                    <a:p>
                      <a:pPr algn="l">
                        <a:buNone/>
                      </a:pPr>
                      <a:r>
                        <a:rPr lang="en-US" sz="1400" dirty="0"/>
                        <a:t>• Compile and finalize proposal/report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4034990127"/>
                  </a:ext>
                </a:extLst>
              </a:tr>
              <a:tr h="1744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KRUPAL</a:t>
                      </a:r>
                      <a:endParaRPr lang="en-US" sz="1400" dirty="0"/>
                    </a:p>
                  </a:txBody>
                  <a:tcPr marL="47817" marR="47817" marT="23908" marB="23908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• Data Acquisition &amp; Preprocessing </a:t>
                      </a:r>
                    </a:p>
                    <a:p>
                      <a:pPr algn="l">
                        <a:buNone/>
                      </a:pPr>
                      <a:r>
                        <a:rPr lang="en-US" sz="1400" dirty="0"/>
                        <a:t>• Dataset Encoding &amp; Feature Engineering </a:t>
                      </a:r>
                    </a:p>
                    <a:p>
                      <a:pPr algn="l">
                        <a:buNone/>
                      </a:pPr>
                      <a:r>
                        <a:rPr lang="en-US" sz="1400" dirty="0"/>
                        <a:t>• Baseline Model Implementation </a:t>
                      </a:r>
                    </a:p>
                    <a:p>
                      <a:pPr algn="l">
                        <a:buNone/>
                      </a:pPr>
                      <a:r>
                        <a:rPr lang="en-US" sz="1400" dirty="0"/>
                        <a:t>• Results Visualization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• Download and clean splice junction dataset </a:t>
                      </a:r>
                    </a:p>
                    <a:p>
                      <a:pPr algn="l">
                        <a:buNone/>
                      </a:pPr>
                      <a:r>
                        <a:rPr lang="en-US" sz="1400" dirty="0"/>
                        <a:t>• Implement one-hot encoding and data splitting </a:t>
                      </a:r>
                    </a:p>
                    <a:p>
                      <a:pPr algn="l">
                        <a:buNone/>
                      </a:pPr>
                      <a:r>
                        <a:rPr lang="en-US" sz="1400" dirty="0"/>
                        <a:t>• Train SVM (Support Vector Machines), and Random Forest </a:t>
                      </a:r>
                    </a:p>
                    <a:p>
                      <a:pPr algn="l">
                        <a:buNone/>
                      </a:pPr>
                      <a:r>
                        <a:rPr lang="en-US" sz="1400" dirty="0"/>
                        <a:t>• Generate accuracy, F1-score, and confusion matrix plots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4120946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KARTAVYA</a:t>
                      </a:r>
                      <a:endParaRPr lang="en-US" sz="1400" dirty="0"/>
                    </a:p>
                  </a:txBody>
                  <a:tcPr marL="47817" marR="47817" marT="23908" marB="23908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• Hybrid Model Implementation </a:t>
                      </a:r>
                    </a:p>
                    <a:p>
                      <a:pPr algn="l">
                        <a:buNone/>
                      </a:pPr>
                      <a:r>
                        <a:rPr lang="en-US" sz="1400" dirty="0"/>
                        <a:t>• CNN - </a:t>
                      </a:r>
                      <a:r>
                        <a:rPr lang="en-US" sz="1400" dirty="0" err="1"/>
                        <a:t>BiLSTM</a:t>
                      </a:r>
                      <a:r>
                        <a:rPr lang="en-US" sz="1400" dirty="0"/>
                        <a:t> Training &amp; Optimization </a:t>
                      </a:r>
                    </a:p>
                    <a:p>
                      <a:pPr algn="l">
                        <a:buNone/>
                      </a:pPr>
                      <a:r>
                        <a:rPr lang="en-US" sz="1400" dirty="0"/>
                        <a:t>• Hyperparameter Tuning </a:t>
                      </a:r>
                    </a:p>
                    <a:p>
                      <a:pPr algn="l">
                        <a:buNone/>
                      </a:pPr>
                      <a:r>
                        <a:rPr lang="en-US" sz="1400" dirty="0"/>
                        <a:t>• Evaluation &amp; Analysis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/>
                        <a:t>• Implement CNN - </a:t>
                      </a:r>
                      <a:r>
                        <a:rPr lang="en-US" sz="1400" dirty="0" err="1"/>
                        <a:t>BiLSTM</a:t>
                      </a:r>
                      <a:r>
                        <a:rPr lang="en-US" sz="1400" dirty="0"/>
                        <a:t> architecture in TensorFlow/</a:t>
                      </a:r>
                      <a:r>
                        <a:rPr lang="en-US" sz="1400" dirty="0" err="1"/>
                        <a:t>PyTorch</a:t>
                      </a:r>
                      <a:r>
                        <a:rPr lang="en-US" sz="1400" dirty="0"/>
                        <a:t> </a:t>
                      </a:r>
                    </a:p>
                    <a:p>
                      <a:pPr algn="l">
                        <a:buNone/>
                      </a:pPr>
                      <a:r>
                        <a:rPr lang="en-US" sz="1400" dirty="0"/>
                        <a:t>• Train model and monitor validation performance </a:t>
                      </a:r>
                    </a:p>
                    <a:p>
                      <a:pPr algn="l">
                        <a:buNone/>
                      </a:pPr>
                      <a:r>
                        <a:rPr lang="en-US" sz="1400" dirty="0"/>
                        <a:t>• Perform hyperparameter tuning </a:t>
                      </a:r>
                    </a:p>
                    <a:p>
                      <a:pPr algn="l">
                        <a:buNone/>
                      </a:pPr>
                      <a:r>
                        <a:rPr lang="en-US" sz="1400" dirty="0"/>
                        <a:t>• Conduct comparative analysis and error evaluation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2294546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9324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E28DF-93F3-91D0-5480-CC190723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B5380E-B173-9F71-9C9D-437D0BBEC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2F5032-7276-35C3-4C34-282FB812F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3" y="121298"/>
            <a:ext cx="4963886" cy="802433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TIMELINE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172581-FB08-8DC2-C53E-A5AD454414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13" y="937552"/>
            <a:ext cx="8677173" cy="541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0116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4DDEF-9499-0848-9FF9-781097E13E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300" y="1165421"/>
            <a:ext cx="7886700" cy="47877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rtl="0" fontAlgn="base">
              <a:lnSpc>
                <a:spcPts val="1918"/>
              </a:lnSpc>
              <a:spcAft>
                <a:spcPts val="800"/>
              </a:spcAft>
              <a:buNone/>
            </a:pP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 rtl="0" fontAlgn="base">
              <a:lnSpc>
                <a:spcPts val="1569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[1] Zuallaert, J., Godin, F., Kim, M., Soete, A., Saeys, Y., &amp; De Neve, W. (2018). SpliceRover: interpretable convolutional neural networks for improved splice site prediction. Bioinformatics, 34(24), 4180-4188.</a:t>
            </a:r>
          </a:p>
          <a:p>
            <a:pPr marL="0" indent="0" algn="just" rtl="0" fontAlgn="base">
              <a:lnSpc>
                <a:spcPts val="1569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Times New Roman"/>
              <a:cs typeface="Times New Roman"/>
            </a:endParaRPr>
          </a:p>
          <a:p>
            <a:pPr marL="0" indent="0" algn="just" rtl="0" fontAlgn="base">
              <a:lnSpc>
                <a:spcPts val="1569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[2] Dakhli, A., &amp; Bellil, W. (2016). Wavelet neural networks for DNA sequence classification using the genetic algorithms and the least trimmed square. Procedia Computer Science, 96, 418-427.</a:t>
            </a:r>
          </a:p>
          <a:p>
            <a:pPr marL="0" indent="0" algn="just" rtl="0" fontAlgn="base">
              <a:lnSpc>
                <a:spcPts val="1569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Times New Roman"/>
              <a:cs typeface="Times New Roman"/>
            </a:endParaRPr>
          </a:p>
          <a:p>
            <a:pPr marL="0" indent="0" algn="just" rtl="0" fontAlgn="base">
              <a:lnSpc>
                <a:spcPts val="1569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[3] Rizzo, R., Fiannaca, A., La Rosa, M., &amp; Urso, A. (2015, September). A deep learning approach to DNA sequence classification. In International meeting on computational intelligence methods for bioinformatics and biostatistics (pp. 129-140). Cham: Springer International Publishing.</a:t>
            </a:r>
          </a:p>
          <a:p>
            <a:pPr marL="0" indent="0" algn="just" rtl="0" fontAlgn="base">
              <a:lnSpc>
                <a:spcPts val="1569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Times New Roman"/>
              <a:cs typeface="Times New Roman"/>
            </a:endParaRPr>
          </a:p>
          <a:p>
            <a:pPr marL="0" indent="0" algn="just" rtl="0" fontAlgn="base">
              <a:lnSpc>
                <a:spcPts val="1569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[4] Jaganathan, K., Panagiotopoulou, S. K., McRae, J. F., Darbandi, S. F., Knowles, D., Li, Y. I., ... &amp; Farh, K. K. H. (2019). Predicting splicing from primary sequence with deep learning. Cell, 176(3), 535-548.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EA7237B-41C8-C945-8A8B-F98542EAD940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708A80-5276-43A4-AB04-3C04926F5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8529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ack And Forth Questions | 3D Animated Clipart for PowerPoint -  PresenterMedia.com">
            <a:extLst>
              <a:ext uri="{FF2B5EF4-FFF2-40B4-BE49-F238E27FC236}">
                <a16:creationId xmlns:a16="http://schemas.microsoft.com/office/drawing/2014/main" id="{FE8BDA98-C6E8-CBB2-5468-3D4D1666E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85" y="1351025"/>
            <a:ext cx="4473821" cy="4473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A93304-03D7-493E-92D6-38FC853D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CFDDDB-0F2B-4CC6-8C8A-5C6670B6DE9E}"/>
              </a:ext>
            </a:extLst>
          </p:cNvPr>
          <p:cNvSpPr txBox="1">
            <a:spLocks/>
          </p:cNvSpPr>
          <p:nvPr/>
        </p:nvSpPr>
        <p:spPr>
          <a:xfrm>
            <a:off x="5688672" y="2552995"/>
            <a:ext cx="2911715" cy="16038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Questions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D1B8B9-09A2-A7A5-34C2-6E0CF603DEBD}"/>
              </a:ext>
            </a:extLst>
          </p:cNvPr>
          <p:cNvSpPr txBox="1"/>
          <p:nvPr/>
        </p:nvSpPr>
        <p:spPr>
          <a:xfrm>
            <a:off x="4189445" y="699874"/>
            <a:ext cx="5383763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60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sz="6000" dirty="0">
                <a:solidFill>
                  <a:schemeClr val="bg2">
                    <a:lumMod val="10000"/>
                  </a:schemeClr>
                </a:solidFill>
              </a:rPr>
              <a:t>   THANK YOU!!</a:t>
            </a:r>
            <a:endParaRPr lang="en-US" sz="6000" dirty="0">
              <a:solidFill>
                <a:schemeClr val="bg2">
                  <a:lumMod val="10000"/>
                </a:schemeClr>
              </a:solidFill>
              <a:ea typeface="Calibri"/>
              <a:cs typeface="Calibri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49599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1030</TotalTime>
  <Words>1802</Words>
  <Application>Microsoft Office PowerPoint</Application>
  <PresentationFormat>On-screen Show (4:3)</PresentationFormat>
  <Paragraphs>333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Arial</vt:lpstr>
      <vt:lpstr>Calibri</vt:lpstr>
      <vt:lpstr>Calibri Light</vt:lpstr>
      <vt:lpstr>Courier New</vt:lpstr>
      <vt:lpstr>Inter</vt:lpstr>
      <vt:lpstr>Inter Bold</vt:lpstr>
      <vt:lpstr>Segoe UI</vt:lpstr>
      <vt:lpstr>Times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APPLICATION</vt:lpstr>
      <vt:lpstr>LITERATURE REVIEW</vt:lpstr>
      <vt:lpstr>PowerPoint Presentation</vt:lpstr>
      <vt:lpstr>PowerPoint Presentation</vt:lpstr>
      <vt:lpstr>PowerPoint Presentation</vt:lpstr>
      <vt:lpstr>PowerPoint Presentation</vt:lpstr>
      <vt:lpstr>MODEL ARCHITECTURE</vt:lpstr>
      <vt:lpstr>DATASET</vt:lpstr>
      <vt:lpstr>DATA EXPLORATION</vt:lpstr>
      <vt:lpstr>UNDERSTANDING THE FUNCTIONS </vt:lpstr>
      <vt:lpstr>UNDERSTANDING THE FUNCTIONS </vt:lpstr>
      <vt:lpstr>TRAINING STRATEGY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&amp; FUTURE WORK</vt:lpstr>
      <vt:lpstr>PowerPoint Presentation</vt:lpstr>
      <vt:lpstr>TIMELINE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Microsoft Office User</dc:creator>
  <cp:lastModifiedBy>kartavya mandora</cp:lastModifiedBy>
  <cp:revision>85</cp:revision>
  <dcterms:created xsi:type="dcterms:W3CDTF">2020-12-17T21:21:33Z</dcterms:created>
  <dcterms:modified xsi:type="dcterms:W3CDTF">2026-04-29T01:57:13Z</dcterms:modified>
</cp:coreProperties>
</file>